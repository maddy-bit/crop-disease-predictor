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1B4332"/>
            </a:solidFill>
            <a:ln w="25400" cap="flat">
              <a:solidFill>
                <a:srgbClr val="1B4332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Epoch 1</c:v>
                  </c:pt>
                  <c:pt idx="1">
                    <c:v>Epoch 2</c:v>
                  </c:pt>
                  <c:pt idx="2">
                    <c:v>Epoch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83.41</c:v>
                </c:pt>
                <c:pt idx="1">
                  <c:v>92.31</c:v>
                </c:pt>
                <c:pt idx="2">
                  <c:v>93.17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52B788"/>
            </a:solidFill>
            <a:ln w="25400" cap="flat">
              <a:solidFill>
                <a:srgbClr val="52B78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Epoch 1</c:v>
                  </c:pt>
                  <c:pt idx="1">
                    <c:v>Epoch 2</c:v>
                  </c:pt>
                  <c:pt idx="2">
                    <c:v>Epoch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92.69</c:v>
                </c:pt>
                <c:pt idx="1">
                  <c:v>93.16</c:v>
                </c:pt>
                <c:pt idx="2">
                  <c:v>94.19</c:v>
                </c:pt>
              </c:numCache>
            </c:numRef>
          </c:val>
          <c:smooth val="1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D34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ddy-bit/Crop-Disease-Predicto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1B4332"/>
            </a:gs>
            <a:gs pos="100000">
              <a:srgbClr val="081C15"/>
            </a:gs>
          </a:gsLst>
          <a:path path="circle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6604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175000" cy="3175000"/>
          </a:xfrm>
          <a:prstGeom prst="ellipse">
            <a:avLst/>
          </a:prstGeom>
          <a:solidFill>
            <a:srgbClr val="FFFFFF">
              <a:alpha val="1961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70800" y="2032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841712" y="11966"/>
                </a:moveTo>
                <a:cubicBezTo>
                  <a:pt x="853142" y="1072"/>
                  <a:pt x="869752" y="-2857"/>
                  <a:pt x="885111" y="2143"/>
                </a:cubicBezTo>
                <a:cubicBezTo>
                  <a:pt x="902613" y="8037"/>
                  <a:pt x="914400" y="24467"/>
                  <a:pt x="914400" y="42863"/>
                </a:cubicBezTo>
                <a:lnTo>
                  <a:pt x="914400" y="376654"/>
                </a:lnTo>
                <a:cubicBezTo>
                  <a:pt x="914400" y="610969"/>
                  <a:pt x="721340" y="800100"/>
                  <a:pt x="487918" y="800100"/>
                </a:cubicBezTo>
                <a:cubicBezTo>
                  <a:pt x="350401" y="800100"/>
                  <a:pt x="231815" y="711696"/>
                  <a:pt x="188774" y="588109"/>
                </a:cubicBezTo>
                <a:cubicBezTo>
                  <a:pt x="125551" y="643116"/>
                  <a:pt x="85725" y="724019"/>
                  <a:pt x="85725" y="814388"/>
                </a:cubicBezTo>
                <a:cubicBezTo>
                  <a:pt x="85725" y="838140"/>
                  <a:pt x="66615" y="857250"/>
                  <a:pt x="42862" y="857250"/>
                </a:cubicBezTo>
                <a:cubicBezTo>
                  <a:pt x="19110" y="857250"/>
                  <a:pt x="0" y="838140"/>
                  <a:pt x="0" y="814388"/>
                </a:cubicBezTo>
                <a:cubicBezTo>
                  <a:pt x="0" y="680621"/>
                  <a:pt x="68223" y="562749"/>
                  <a:pt x="171629" y="493455"/>
                </a:cubicBezTo>
                <a:cubicBezTo>
                  <a:pt x="234672" y="451306"/>
                  <a:pt x="309860" y="428625"/>
                  <a:pt x="385763" y="428625"/>
                </a:cubicBezTo>
                <a:lnTo>
                  <a:pt x="528638" y="428625"/>
                </a:lnTo>
                <a:cubicBezTo>
                  <a:pt x="552390" y="428625"/>
                  <a:pt x="571500" y="409515"/>
                  <a:pt x="571500" y="385763"/>
                </a:cubicBezTo>
                <a:cubicBezTo>
                  <a:pt x="571500" y="362010"/>
                  <a:pt x="552390" y="342900"/>
                  <a:pt x="528638" y="342900"/>
                </a:cubicBezTo>
                <a:lnTo>
                  <a:pt x="385763" y="342900"/>
                </a:lnTo>
                <a:cubicBezTo>
                  <a:pt x="314861" y="342900"/>
                  <a:pt x="247710" y="358616"/>
                  <a:pt x="187523" y="386655"/>
                </a:cubicBezTo>
                <a:cubicBezTo>
                  <a:pt x="229136" y="261640"/>
                  <a:pt x="346829" y="171450"/>
                  <a:pt x="485775" y="171450"/>
                </a:cubicBezTo>
                <a:cubicBezTo>
                  <a:pt x="604361" y="171450"/>
                  <a:pt x="692587" y="131981"/>
                  <a:pt x="751344" y="92869"/>
                </a:cubicBezTo>
                <a:cubicBezTo>
                  <a:pt x="785634" y="70009"/>
                  <a:pt x="814745" y="42684"/>
                  <a:pt x="841891" y="11966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3175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Crop Disease Predictor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778000" y="4191000"/>
            <a:ext cx="1270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Learning-Driven Agriculture Diagnostics with ResNet18 &amp; Streamlit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0" y="50165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5334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Developed by Anmol Trivedi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48000" y="7366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 · Streamlit · Transfer Learning · Computer Vision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Problem: Global Crop Failure Bottleneck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6858000" cy="673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19685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97000" y="273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1930400" y="2667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20-40% yield loss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annually due to diseases and pests (FAO)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970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1930400" y="3683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inspection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slow, subjective, and error-prone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97000" y="476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22225"/>
                </a:moveTo>
                <a:cubicBezTo>
                  <a:pt x="355600" y="97304"/>
                  <a:pt x="302399" y="159951"/>
                  <a:pt x="231696" y="174605"/>
                </a:cubicBezTo>
                <a:cubicBezTo>
                  <a:pt x="226209" y="134253"/>
                  <a:pt x="208082" y="97929"/>
                  <a:pt x="181342" y="69800"/>
                </a:cubicBezTo>
                <a:cubicBezTo>
                  <a:pt x="209193" y="27781"/>
                  <a:pt x="256907" y="0"/>
                  <a:pt x="311150" y="0"/>
                </a:cubicBezTo>
                <a:lnTo>
                  <a:pt x="333375" y="0"/>
                </a:lnTo>
                <a:cubicBezTo>
                  <a:pt x="345668" y="0"/>
                  <a:pt x="355600" y="9932"/>
                  <a:pt x="355600" y="22225"/>
                </a:cubicBezTo>
                <a:close/>
                <a:moveTo>
                  <a:pt x="0" y="66675"/>
                </a:moveTo>
                <a:cubicBezTo>
                  <a:pt x="0" y="54382"/>
                  <a:pt x="9932" y="44450"/>
                  <a:pt x="22225" y="44450"/>
                </a:cubicBezTo>
                <a:lnTo>
                  <a:pt x="44450" y="44450"/>
                </a:lnTo>
                <a:cubicBezTo>
                  <a:pt x="130364" y="44450"/>
                  <a:pt x="200025" y="114111"/>
                  <a:pt x="200025" y="200025"/>
                </a:cubicBezTo>
                <a:lnTo>
                  <a:pt x="200025" y="333375"/>
                </a:lnTo>
                <a:cubicBezTo>
                  <a:pt x="200025" y="345668"/>
                  <a:pt x="190093" y="355600"/>
                  <a:pt x="177800" y="355600"/>
                </a:cubicBezTo>
                <a:cubicBezTo>
                  <a:pt x="165507" y="355600"/>
                  <a:pt x="155575" y="345668"/>
                  <a:pt x="155575" y="333375"/>
                </a:cubicBezTo>
                <a:lnTo>
                  <a:pt x="155575" y="222250"/>
                </a:lnTo>
                <a:cubicBezTo>
                  <a:pt x="69661" y="222250"/>
                  <a:pt x="0" y="152589"/>
                  <a:pt x="0" y="66675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1930400" y="4699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 detection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leads to irreversible crop damage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97000" y="577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30989"/>
                </a:moveTo>
                <a:cubicBezTo>
                  <a:pt x="0" y="58618"/>
                  <a:pt x="79640" y="0"/>
                  <a:pt x="177800" y="0"/>
                </a:cubicBezTo>
                <a:cubicBezTo>
                  <a:pt x="275960" y="0"/>
                  <a:pt x="355600" y="58618"/>
                  <a:pt x="355600" y="130989"/>
                </a:cubicBezTo>
                <a:cubicBezTo>
                  <a:pt x="355600" y="213846"/>
                  <a:pt x="244290" y="313164"/>
                  <a:pt x="197803" y="351016"/>
                </a:cubicBezTo>
                <a:cubicBezTo>
                  <a:pt x="186875" y="359906"/>
                  <a:pt x="168632" y="359906"/>
                  <a:pt x="157705" y="351016"/>
                </a:cubicBezTo>
                <a:cubicBezTo>
                  <a:pt x="111218" y="313164"/>
                  <a:pt x="-93" y="213846"/>
                  <a:pt x="-93" y="130989"/>
                </a:cubicBezTo>
                <a:close/>
                <a:moveTo>
                  <a:pt x="177800" y="177800"/>
                </a:moveTo>
                <a:cubicBezTo>
                  <a:pt x="210510" y="177800"/>
                  <a:pt x="237067" y="157883"/>
                  <a:pt x="237067" y="133350"/>
                </a:cubicBezTo>
                <a:cubicBezTo>
                  <a:pt x="237067" y="108817"/>
                  <a:pt x="210510" y="88900"/>
                  <a:pt x="177800" y="88900"/>
                </a:cubicBezTo>
                <a:cubicBezTo>
                  <a:pt x="145090" y="88900"/>
                  <a:pt x="118533" y="108817"/>
                  <a:pt x="118533" y="133350"/>
                </a:cubicBezTo>
                <a:cubicBezTo>
                  <a:pt x="118533" y="157883"/>
                  <a:pt x="145090" y="177800"/>
                  <a:pt x="177800" y="17780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1930400" y="5715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farmers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lack access to agricultural experts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97000" y="6858000"/>
            <a:ext cx="6096000" cy="1143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51000" y="6985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Opportunity: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Deploy edge-ready deep learning for instant, on-the-ground crop diagnostics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0" y="1651000"/>
            <a:ext cx="6858000" cy="1968500"/>
          </a:xfrm>
          <a:prstGeom prst="roundRect">
            <a:avLst>
              <a:gd name="adj" fmla="val 12000"/>
            </a:avLst>
          </a:prstGeom>
          <a:solidFill>
            <a:srgbClr val="F7F9F6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63000" y="1879600"/>
            <a:ext cx="3302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20-40%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763000" y="27686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crop yield lost to diseases annually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3937000"/>
            <a:ext cx="6858000" cy="1968500"/>
          </a:xfrm>
          <a:prstGeom prst="roundRect">
            <a:avLst>
              <a:gd name="adj" fmla="val 12000"/>
            </a:avLst>
          </a:prstGeom>
          <a:solidFill>
            <a:srgbClr val="F7F9F6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63000" y="4165600"/>
            <a:ext cx="25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Days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8763000" y="50546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detection turnaround time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82000" y="6223000"/>
            <a:ext cx="6858000" cy="19685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1B4332"/>
              </a:gs>
              <a:gs pos="100000">
                <a:srgbClr val="2D6A4F"/>
              </a:gs>
            </a:gsLst>
            <a:lin ang="8100000" scaled="1"/>
          </a:gradFill>
          <a:ln/>
          <a:effectLst>
            <a:outerShdw sx="100000" sy="100000" kx="0" ky="0" algn="bl" rotWithShape="0" blurRad="203200" dist="50800" dir="5400000">
              <a:srgbClr val="1b4332">
                <a:alpha val="1254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763000" y="679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0" y="6604000"/>
            <a:ext cx="533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Solution:</a:t>
            </a:r>
            <a:pPr algn="l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Detection in </a:t>
            </a:r>
            <a:pPr algn="l">
              <a:lnSpc>
                <a:spcPct val="140000"/>
              </a:lnSpc>
            </a:pPr>
            <a:r>
              <a:rPr lang="en-US" sz="22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seconds</a:t>
            </a:r>
            <a:pPr algn="l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days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Pipeline: Deterministic Data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14224000" cy="330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51000" y="2159000"/>
            <a:ext cx="1016000" cy="10160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2159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33500" y="3302000"/>
            <a:ext cx="165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6500" y="3746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splitfolders seed=1337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1000" y="2667000"/>
            <a:ext cx="889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064000" y="2159000"/>
            <a:ext cx="1016000" cy="10160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064000" y="2159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746500" y="3302000"/>
            <a:ext cx="165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9500" y="3746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Multi-channel RGB 224x224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34000" y="2667000"/>
            <a:ext cx="889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477000" y="2159000"/>
            <a:ext cx="1016000" cy="101600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77000" y="2159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9500" y="3302000"/>
            <a:ext cx="165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 Sets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32500" y="3746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/ Val / Test</a:t>
            </a:r>
            <a:endParaRPr lang="en-US" sz="14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three-way split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47000" y="2667000"/>
            <a:ext cx="889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890000" y="2159000"/>
            <a:ext cx="1016000" cy="10160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0" y="2159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572500" y="3302000"/>
            <a:ext cx="165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45500" y="3746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 DataLoader batch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160000" y="2667000"/>
            <a:ext cx="889000" cy="0"/>
          </a:xfrm>
          <a:prstGeom prst="straightConnector1">
            <a:avLst/>
          </a:prstGeom>
          <a:noFill/>
          <a:ln w="25400">
            <a:solidFill>
              <a:srgbClr val="5C6B73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303000" y="2159000"/>
            <a:ext cx="1016000" cy="10160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11303000" y="2159000"/>
            <a:ext cx="10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0985500" y="3302000"/>
            <a:ext cx="165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858500" y="3746500"/>
            <a:ext cx="190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traceability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6000" y="5334000"/>
            <a:ext cx="14224000" cy="3048000"/>
          </a:xfrm>
          <a:prstGeom prst="roundRect">
            <a:avLst>
              <a:gd name="adj" fmla="val 10000"/>
            </a:avLst>
          </a:prstGeom>
          <a:solidFill>
            <a:srgbClr val="F7F9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97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2571" y="82550"/>
                </a:moveTo>
                <a:cubicBezTo>
                  <a:pt x="84587" y="82550"/>
                  <a:pt x="94343" y="74014"/>
                  <a:pt x="94343" y="63500"/>
                </a:cubicBezTo>
                <a:cubicBezTo>
                  <a:pt x="94343" y="52986"/>
                  <a:pt x="84587" y="44450"/>
                  <a:pt x="72571" y="44450"/>
                </a:cubicBezTo>
                <a:cubicBezTo>
                  <a:pt x="60555" y="44450"/>
                  <a:pt x="50800" y="52986"/>
                  <a:pt x="50800" y="63500"/>
                </a:cubicBezTo>
                <a:cubicBezTo>
                  <a:pt x="50800" y="74014"/>
                  <a:pt x="60555" y="82550"/>
                  <a:pt x="72571" y="82550"/>
                </a:cubicBezTo>
                <a:close/>
                <a:moveTo>
                  <a:pt x="145143" y="63500"/>
                </a:moveTo>
                <a:cubicBezTo>
                  <a:pt x="145143" y="89535"/>
                  <a:pt x="127272" y="111919"/>
                  <a:pt x="101600" y="121682"/>
                </a:cubicBezTo>
                <a:lnTo>
                  <a:pt x="101600" y="177800"/>
                </a:lnTo>
                <a:lnTo>
                  <a:pt x="261257" y="177800"/>
                </a:lnTo>
                <a:cubicBezTo>
                  <a:pt x="285296" y="177800"/>
                  <a:pt x="304800" y="160734"/>
                  <a:pt x="304800" y="139700"/>
                </a:cubicBezTo>
                <a:lnTo>
                  <a:pt x="304800" y="121682"/>
                </a:lnTo>
                <a:cubicBezTo>
                  <a:pt x="279128" y="111919"/>
                  <a:pt x="261257" y="89535"/>
                  <a:pt x="261257" y="63500"/>
                </a:cubicBezTo>
                <a:cubicBezTo>
                  <a:pt x="261257" y="28416"/>
                  <a:pt x="293733" y="0"/>
                  <a:pt x="333829" y="0"/>
                </a:cubicBezTo>
                <a:cubicBezTo>
                  <a:pt x="373924" y="0"/>
                  <a:pt x="406400" y="28416"/>
                  <a:pt x="406400" y="63500"/>
                </a:cubicBezTo>
                <a:cubicBezTo>
                  <a:pt x="406400" y="89535"/>
                  <a:pt x="388529" y="111919"/>
                  <a:pt x="362857" y="121682"/>
                </a:cubicBezTo>
                <a:lnTo>
                  <a:pt x="362857" y="139700"/>
                </a:lnTo>
                <a:cubicBezTo>
                  <a:pt x="362857" y="188833"/>
                  <a:pt x="317409" y="228600"/>
                  <a:pt x="261257" y="228600"/>
                </a:cubicBezTo>
                <a:lnTo>
                  <a:pt x="101600" y="228600"/>
                </a:lnTo>
                <a:lnTo>
                  <a:pt x="101600" y="284718"/>
                </a:lnTo>
                <a:cubicBezTo>
                  <a:pt x="127272" y="294481"/>
                  <a:pt x="145143" y="316865"/>
                  <a:pt x="145143" y="342900"/>
                </a:cubicBezTo>
                <a:cubicBezTo>
                  <a:pt x="145143" y="377984"/>
                  <a:pt x="112667" y="406400"/>
                  <a:pt x="72571" y="406400"/>
                </a:cubicBezTo>
                <a:cubicBezTo>
                  <a:pt x="32476" y="406400"/>
                  <a:pt x="0" y="377984"/>
                  <a:pt x="0" y="342900"/>
                </a:cubicBezTo>
                <a:cubicBezTo>
                  <a:pt x="0" y="316865"/>
                  <a:pt x="17871" y="294481"/>
                  <a:pt x="43543" y="284718"/>
                </a:cubicBezTo>
                <a:lnTo>
                  <a:pt x="43543" y="121761"/>
                </a:lnTo>
                <a:cubicBezTo>
                  <a:pt x="17871" y="111919"/>
                  <a:pt x="0" y="89535"/>
                  <a:pt x="0" y="63500"/>
                </a:cubicBezTo>
                <a:cubicBezTo>
                  <a:pt x="0" y="28416"/>
                  <a:pt x="32476" y="0"/>
                  <a:pt x="72571" y="0"/>
                </a:cubicBezTo>
                <a:cubicBezTo>
                  <a:pt x="112667" y="0"/>
                  <a:pt x="145143" y="28416"/>
                  <a:pt x="145143" y="63500"/>
                </a:cubicBezTo>
                <a:close/>
                <a:moveTo>
                  <a:pt x="355600" y="63500"/>
                </a:moveTo>
                <a:cubicBezTo>
                  <a:pt x="355600" y="52986"/>
                  <a:pt x="345845" y="44450"/>
                  <a:pt x="333829" y="44450"/>
                </a:cubicBezTo>
                <a:cubicBezTo>
                  <a:pt x="321813" y="44450"/>
                  <a:pt x="312057" y="52986"/>
                  <a:pt x="312057" y="63500"/>
                </a:cubicBezTo>
                <a:cubicBezTo>
                  <a:pt x="312057" y="74014"/>
                  <a:pt x="321813" y="82550"/>
                  <a:pt x="333829" y="82550"/>
                </a:cubicBezTo>
                <a:cubicBezTo>
                  <a:pt x="345845" y="82550"/>
                  <a:pt x="355600" y="74014"/>
                  <a:pt x="355600" y="63500"/>
                </a:cubicBezTo>
                <a:close/>
                <a:moveTo>
                  <a:pt x="72571" y="361950"/>
                </a:moveTo>
                <a:cubicBezTo>
                  <a:pt x="84587" y="361950"/>
                  <a:pt x="94343" y="353414"/>
                  <a:pt x="94343" y="342900"/>
                </a:cubicBezTo>
                <a:cubicBezTo>
                  <a:pt x="94343" y="332386"/>
                  <a:pt x="84587" y="323850"/>
                  <a:pt x="72571" y="323850"/>
                </a:cubicBezTo>
                <a:cubicBezTo>
                  <a:pt x="60555" y="323850"/>
                  <a:pt x="50800" y="332386"/>
                  <a:pt x="50800" y="342900"/>
                </a:cubicBezTo>
                <a:cubicBezTo>
                  <a:pt x="50800" y="353414"/>
                  <a:pt x="60555" y="361950"/>
                  <a:pt x="72571" y="36195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30" name="Text 28"/>
          <p:cNvSpPr/>
          <p:nvPr/>
        </p:nvSpPr>
        <p:spPr>
          <a:xfrm>
            <a:off x="1968500" y="5613400"/>
            <a:ext cx="508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Highlights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97000" y="6286500"/>
            <a:ext cx="431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Fixed seed 1337 ensures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reproducibility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Deterministic splits eliminate data leakage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69000" y="6286500"/>
            <a:ext cx="431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Standardized 224x224 RGB input format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Batch processing via PyTorch DataLoader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541000" y="6286500"/>
            <a:ext cx="431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Full audit trail from raw to prediction</a:t>
            </a:r>
            <a:endParaRPr lang="en-US" sz="1800" dirty="0"/>
          </a:p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Three-way train/val/test separation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Augmentation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7620000" cy="673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19685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970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400" y="22225"/>
                </a:moveTo>
                <a:cubicBezTo>
                  <a:pt x="11351" y="22225"/>
                  <a:pt x="0" y="32157"/>
                  <a:pt x="0" y="44450"/>
                </a:cubicBezTo>
                <a:lnTo>
                  <a:pt x="0" y="111125"/>
                </a:lnTo>
                <a:cubicBezTo>
                  <a:pt x="0" y="123418"/>
                  <a:pt x="11351" y="133350"/>
                  <a:pt x="25400" y="133350"/>
                </a:cubicBezTo>
                <a:cubicBezTo>
                  <a:pt x="39449" y="133350"/>
                  <a:pt x="50800" y="123418"/>
                  <a:pt x="50800" y="111125"/>
                </a:cubicBezTo>
                <a:lnTo>
                  <a:pt x="50800" y="66675"/>
                </a:lnTo>
                <a:lnTo>
                  <a:pt x="101600" y="66675"/>
                </a:lnTo>
                <a:cubicBezTo>
                  <a:pt x="115649" y="66675"/>
                  <a:pt x="127000" y="56743"/>
                  <a:pt x="127000" y="44450"/>
                </a:cubicBezTo>
                <a:cubicBezTo>
                  <a:pt x="127000" y="32157"/>
                  <a:pt x="115649" y="22225"/>
                  <a:pt x="101600" y="22225"/>
                </a:cubicBezTo>
                <a:lnTo>
                  <a:pt x="25400" y="22225"/>
                </a:lnTo>
                <a:close/>
                <a:moveTo>
                  <a:pt x="50800" y="244475"/>
                </a:moveTo>
                <a:cubicBezTo>
                  <a:pt x="50800" y="232182"/>
                  <a:pt x="39449" y="222250"/>
                  <a:pt x="25400" y="222250"/>
                </a:cubicBezTo>
                <a:cubicBezTo>
                  <a:pt x="11351" y="222250"/>
                  <a:pt x="0" y="232182"/>
                  <a:pt x="0" y="244475"/>
                </a:cubicBezTo>
                <a:lnTo>
                  <a:pt x="0" y="311150"/>
                </a:lnTo>
                <a:cubicBezTo>
                  <a:pt x="0" y="323443"/>
                  <a:pt x="11351" y="333375"/>
                  <a:pt x="25400" y="333375"/>
                </a:cubicBezTo>
                <a:lnTo>
                  <a:pt x="101600" y="333375"/>
                </a:lnTo>
                <a:cubicBezTo>
                  <a:pt x="115649" y="333375"/>
                  <a:pt x="127000" y="323443"/>
                  <a:pt x="127000" y="311150"/>
                </a:cubicBezTo>
                <a:cubicBezTo>
                  <a:pt x="127000" y="298857"/>
                  <a:pt x="115649" y="288925"/>
                  <a:pt x="101600" y="288925"/>
                </a:cubicBezTo>
                <a:lnTo>
                  <a:pt x="50800" y="288925"/>
                </a:lnTo>
                <a:lnTo>
                  <a:pt x="50800" y="244475"/>
                </a:lnTo>
                <a:close/>
                <a:moveTo>
                  <a:pt x="254000" y="22225"/>
                </a:moveTo>
                <a:cubicBezTo>
                  <a:pt x="239951" y="22225"/>
                  <a:pt x="228600" y="32157"/>
                  <a:pt x="228600" y="44450"/>
                </a:cubicBezTo>
                <a:cubicBezTo>
                  <a:pt x="228600" y="56743"/>
                  <a:pt x="239951" y="66675"/>
                  <a:pt x="254000" y="66675"/>
                </a:cubicBezTo>
                <a:lnTo>
                  <a:pt x="304800" y="66675"/>
                </a:lnTo>
                <a:lnTo>
                  <a:pt x="304800" y="111125"/>
                </a:lnTo>
                <a:cubicBezTo>
                  <a:pt x="304800" y="123418"/>
                  <a:pt x="316151" y="133350"/>
                  <a:pt x="330200" y="133350"/>
                </a:cubicBezTo>
                <a:cubicBezTo>
                  <a:pt x="344249" y="133350"/>
                  <a:pt x="355600" y="123418"/>
                  <a:pt x="355600" y="111125"/>
                </a:cubicBezTo>
                <a:lnTo>
                  <a:pt x="355600" y="44450"/>
                </a:lnTo>
                <a:cubicBezTo>
                  <a:pt x="355600" y="32157"/>
                  <a:pt x="344249" y="22225"/>
                  <a:pt x="330200" y="22225"/>
                </a:cubicBezTo>
                <a:lnTo>
                  <a:pt x="254000" y="22225"/>
                </a:lnTo>
                <a:close/>
                <a:moveTo>
                  <a:pt x="355600" y="244475"/>
                </a:moveTo>
                <a:cubicBezTo>
                  <a:pt x="355600" y="232182"/>
                  <a:pt x="344249" y="222250"/>
                  <a:pt x="330200" y="222250"/>
                </a:cubicBezTo>
                <a:cubicBezTo>
                  <a:pt x="316151" y="222250"/>
                  <a:pt x="304800" y="232182"/>
                  <a:pt x="304800" y="244475"/>
                </a:cubicBezTo>
                <a:lnTo>
                  <a:pt x="304800" y="288925"/>
                </a:lnTo>
                <a:lnTo>
                  <a:pt x="254000" y="288925"/>
                </a:lnTo>
                <a:cubicBezTo>
                  <a:pt x="239951" y="288925"/>
                  <a:pt x="228600" y="298857"/>
                  <a:pt x="228600" y="311150"/>
                </a:cubicBezTo>
                <a:cubicBezTo>
                  <a:pt x="228600" y="323443"/>
                  <a:pt x="239951" y="333375"/>
                  <a:pt x="254000" y="333375"/>
                </a:cubicBezTo>
                <a:lnTo>
                  <a:pt x="330200" y="333375"/>
                </a:lnTo>
                <a:cubicBezTo>
                  <a:pt x="344249" y="333375"/>
                  <a:pt x="355600" y="323443"/>
                  <a:pt x="355600" y="311150"/>
                </a:cubicBezTo>
                <a:lnTo>
                  <a:pt x="355600" y="244475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1930400" y="2603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Resize to 224x224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ResNet18 standard input dimension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97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0452" y="23892"/>
                </a:moveTo>
                <a:cubicBezTo>
                  <a:pt x="288786" y="20419"/>
                  <a:pt x="298301" y="22364"/>
                  <a:pt x="304691" y="28684"/>
                </a:cubicBezTo>
                <a:lnTo>
                  <a:pt x="349141" y="73134"/>
                </a:lnTo>
                <a:cubicBezTo>
                  <a:pt x="353308" y="77301"/>
                  <a:pt x="355669" y="82927"/>
                  <a:pt x="355669" y="88831"/>
                </a:cubicBezTo>
                <a:cubicBezTo>
                  <a:pt x="355669" y="94734"/>
                  <a:pt x="353308" y="100360"/>
                  <a:pt x="349141" y="104527"/>
                </a:cubicBezTo>
                <a:lnTo>
                  <a:pt x="304691" y="148977"/>
                </a:lnTo>
                <a:cubicBezTo>
                  <a:pt x="298301" y="155367"/>
                  <a:pt x="288786" y="157242"/>
                  <a:pt x="280452" y="153769"/>
                </a:cubicBezTo>
                <a:cubicBezTo>
                  <a:pt x="272117" y="150297"/>
                  <a:pt x="266700" y="142309"/>
                  <a:pt x="266700" y="133350"/>
                </a:cubicBezTo>
                <a:lnTo>
                  <a:pt x="266700" y="111125"/>
                </a:lnTo>
                <a:lnTo>
                  <a:pt x="244475" y="111125"/>
                </a:lnTo>
                <a:cubicBezTo>
                  <a:pt x="237460" y="111125"/>
                  <a:pt x="230862" y="114389"/>
                  <a:pt x="226695" y="120015"/>
                </a:cubicBezTo>
                <a:lnTo>
                  <a:pt x="204192" y="150019"/>
                </a:lnTo>
                <a:lnTo>
                  <a:pt x="176411" y="113000"/>
                </a:lnTo>
                <a:lnTo>
                  <a:pt x="191135" y="93345"/>
                </a:lnTo>
                <a:cubicBezTo>
                  <a:pt x="203706" y="76537"/>
                  <a:pt x="223500" y="66675"/>
                  <a:pt x="244475" y="66675"/>
                </a:cubicBezTo>
                <a:lnTo>
                  <a:pt x="266700" y="66675"/>
                </a:lnTo>
                <a:lnTo>
                  <a:pt x="266700" y="44450"/>
                </a:lnTo>
                <a:cubicBezTo>
                  <a:pt x="266700" y="35491"/>
                  <a:pt x="272117" y="27365"/>
                  <a:pt x="280452" y="23892"/>
                </a:cubicBezTo>
                <a:close/>
                <a:moveTo>
                  <a:pt x="106958" y="205581"/>
                </a:moveTo>
                <a:lnTo>
                  <a:pt x="134739" y="242600"/>
                </a:lnTo>
                <a:lnTo>
                  <a:pt x="120015" y="262255"/>
                </a:lnTo>
                <a:cubicBezTo>
                  <a:pt x="107444" y="279063"/>
                  <a:pt x="87650" y="288925"/>
                  <a:pt x="66675" y="288925"/>
                </a:cubicBezTo>
                <a:lnTo>
                  <a:pt x="22225" y="288925"/>
                </a:lnTo>
                <a:cubicBezTo>
                  <a:pt x="9932" y="288925"/>
                  <a:pt x="0" y="278993"/>
                  <a:pt x="0" y="266700"/>
                </a:cubicBezTo>
                <a:cubicBezTo>
                  <a:pt x="0" y="254407"/>
                  <a:pt x="9932" y="244475"/>
                  <a:pt x="22225" y="244475"/>
                </a:cubicBezTo>
                <a:lnTo>
                  <a:pt x="66675" y="244475"/>
                </a:lnTo>
                <a:cubicBezTo>
                  <a:pt x="73690" y="244475"/>
                  <a:pt x="80288" y="241211"/>
                  <a:pt x="84455" y="235585"/>
                </a:cubicBezTo>
                <a:lnTo>
                  <a:pt x="106958" y="205581"/>
                </a:lnTo>
                <a:close/>
                <a:moveTo>
                  <a:pt x="304621" y="326846"/>
                </a:moveTo>
                <a:cubicBezTo>
                  <a:pt x="298232" y="333236"/>
                  <a:pt x="288717" y="335111"/>
                  <a:pt x="280382" y="331639"/>
                </a:cubicBezTo>
                <a:cubicBezTo>
                  <a:pt x="272048" y="328166"/>
                  <a:pt x="266700" y="320109"/>
                  <a:pt x="266700" y="311150"/>
                </a:cubicBezTo>
                <a:lnTo>
                  <a:pt x="266700" y="288925"/>
                </a:lnTo>
                <a:lnTo>
                  <a:pt x="244475" y="288925"/>
                </a:lnTo>
                <a:cubicBezTo>
                  <a:pt x="223500" y="288925"/>
                  <a:pt x="203706" y="279063"/>
                  <a:pt x="191135" y="262255"/>
                </a:cubicBezTo>
                <a:lnTo>
                  <a:pt x="84455" y="120015"/>
                </a:lnTo>
                <a:cubicBezTo>
                  <a:pt x="80288" y="114389"/>
                  <a:pt x="73690" y="111125"/>
                  <a:pt x="66675" y="11112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cubicBezTo>
                  <a:pt x="87650" y="66675"/>
                  <a:pt x="107444" y="76537"/>
                  <a:pt x="120015" y="93345"/>
                </a:cubicBezTo>
                <a:lnTo>
                  <a:pt x="226695" y="235585"/>
                </a:lnTo>
                <a:cubicBezTo>
                  <a:pt x="230862" y="241211"/>
                  <a:pt x="237460" y="244475"/>
                  <a:pt x="244475" y="244475"/>
                </a:cubicBezTo>
                <a:lnTo>
                  <a:pt x="266700" y="244475"/>
                </a:lnTo>
                <a:lnTo>
                  <a:pt x="266700" y="222250"/>
                </a:lnTo>
                <a:cubicBezTo>
                  <a:pt x="266700" y="213291"/>
                  <a:pt x="272117" y="205165"/>
                  <a:pt x="280452" y="201692"/>
                </a:cubicBezTo>
                <a:cubicBezTo>
                  <a:pt x="288786" y="198219"/>
                  <a:pt x="298301" y="200164"/>
                  <a:pt x="304691" y="206484"/>
                </a:cubicBezTo>
                <a:lnTo>
                  <a:pt x="349141" y="250934"/>
                </a:lnTo>
                <a:cubicBezTo>
                  <a:pt x="353308" y="255101"/>
                  <a:pt x="355669" y="260727"/>
                  <a:pt x="355669" y="266631"/>
                </a:cubicBezTo>
                <a:cubicBezTo>
                  <a:pt x="355669" y="272534"/>
                  <a:pt x="353308" y="278160"/>
                  <a:pt x="349141" y="282327"/>
                </a:cubicBezTo>
                <a:lnTo>
                  <a:pt x="304691" y="326777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1930400" y="3746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Horizontal Flips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(p=0.5) — varied leaf orientations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97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1930400" y="4889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Rotations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(±15°) — natural field photography angles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97000" y="609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1930400" y="6032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ImageNet Normalization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mean &amp; std standardization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97000" y="7112000"/>
            <a:ext cx="6858000" cy="1143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51000" y="7175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[0.485, 0.456, 0.406]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[0.229, 0.224, 0.225]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0" y="1651000"/>
            <a:ext cx="6096000" cy="6731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1B4332"/>
              </a:gs>
              <a:gs pos="100000">
                <a:srgbClr val="2D6A4F"/>
              </a:gs>
            </a:gsLst>
            <a:lin ang="8100000" scaled="1"/>
          </a:gradFill>
          <a:ln/>
          <a:effectLst>
            <a:outerShdw sx="100000" sy="100000" kx="0" ky="0" algn="bl" rotWithShape="0" blurRad="203200" dist="50800" dir="5400000">
              <a:srgbClr val="1b4332">
                <a:alpha val="1254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430000" y="2286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387846" y="0"/>
                  <a:pt x="394692" y="1488"/>
                  <a:pt x="400943" y="4316"/>
                </a:cubicBezTo>
                <a:lnTo>
                  <a:pt x="681335" y="123230"/>
                </a:lnTo>
                <a:cubicBezTo>
                  <a:pt x="714077" y="137071"/>
                  <a:pt x="738485" y="169366"/>
                  <a:pt x="738336" y="208359"/>
                </a:cubicBezTo>
                <a:cubicBezTo>
                  <a:pt x="737592" y="355997"/>
                  <a:pt x="676870" y="626120"/>
                  <a:pt x="420439" y="748903"/>
                </a:cubicBezTo>
                <a:cubicBezTo>
                  <a:pt x="395585" y="760809"/>
                  <a:pt x="366713" y="760809"/>
                  <a:pt x="341858" y="748903"/>
                </a:cubicBezTo>
                <a:cubicBezTo>
                  <a:pt x="85279" y="626120"/>
                  <a:pt x="24705" y="355997"/>
                  <a:pt x="23961" y="208359"/>
                </a:cubicBezTo>
                <a:cubicBezTo>
                  <a:pt x="23812" y="169366"/>
                  <a:pt x="48220" y="137071"/>
                  <a:pt x="80962" y="123230"/>
                </a:cubicBezTo>
                <a:lnTo>
                  <a:pt x="361206" y="4316"/>
                </a:lnTo>
                <a:cubicBezTo>
                  <a:pt x="367457" y="1488"/>
                  <a:pt x="374154" y="0"/>
                  <a:pt x="381000" y="0"/>
                </a:cubicBezTo>
                <a:close/>
                <a:moveTo>
                  <a:pt x="381000" y="99417"/>
                </a:moveTo>
                <a:lnTo>
                  <a:pt x="381000" y="662136"/>
                </a:lnTo>
                <a:cubicBezTo>
                  <a:pt x="586383" y="562719"/>
                  <a:pt x="641598" y="342454"/>
                  <a:pt x="642938" y="210592"/>
                </a:cubicBezTo>
                <a:lnTo>
                  <a:pt x="381000" y="99566"/>
                </a:lnTo>
                <a:lnTo>
                  <a:pt x="381000" y="99566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9652000" y="3302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Augmentation Matters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922000" y="3937000"/>
            <a:ext cx="254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0" y="4191000"/>
            <a:ext cx="508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1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overfitting on limited training data</a:t>
            </a:r>
            <a:endParaRPr lang="en-US" sz="1800" dirty="0"/>
          </a:p>
          <a:p>
            <a:pPr algn="ctr">
              <a:lnSpc>
                <a:spcPct val="170000"/>
              </a:lnSpc>
            </a:pPr>
            <a:r>
              <a:rPr lang="en-US" sz="1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generalization across diverse field conditions</a:t>
            </a:r>
            <a:endParaRPr lang="en-US" sz="1800" dirty="0"/>
          </a:p>
          <a:p>
            <a:pPr algn="ctr">
              <a:lnSpc>
                <a:spcPct val="170000"/>
              </a:lnSpc>
            </a:pPr>
            <a:r>
              <a:rPr lang="en-US" sz="18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Simulates real-world camera variability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52000" y="6223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4x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9652000" y="7302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Effective dataset expansion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Architecture: Transfer Learning with ResNet18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6096000" cy="673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32000" y="2095500"/>
            <a:ext cx="4064000" cy="698500"/>
          </a:xfrm>
          <a:prstGeom prst="roundRect">
            <a:avLst>
              <a:gd name="adj" fmla="val 12000"/>
            </a:avLst>
          </a:prstGeom>
          <a:solidFill>
            <a:srgbClr val="5C6B73"/>
          </a:solidFill>
          <a:ln/>
        </p:spPr>
      </p:sp>
      <p:sp>
        <p:nvSpPr>
          <p:cNvPr id="5" name="Text 3"/>
          <p:cNvSpPr/>
          <p:nvPr/>
        </p:nvSpPr>
        <p:spPr>
          <a:xfrm>
            <a:off x="2032000" y="20955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ImageNet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(1.2M images, 1000 cls)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064000" y="2794000"/>
            <a:ext cx="0" cy="444500"/>
          </a:xfrm>
          <a:prstGeom prst="straightConnector1">
            <a:avLst/>
          </a:prstGeom>
          <a:noFill/>
          <a:ln w="25400">
            <a:solidFill>
              <a:srgbClr val="52B788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1778000" y="3238500"/>
            <a:ext cx="4572000" cy="889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1B4332"/>
              </a:gs>
              <a:gs pos="100000">
                <a:srgbClr val="2D6A4F"/>
              </a:gs>
            </a:gsLst>
            <a:lin ang="54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1778000" y="3238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ResNet18 Backbone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Pre-trained · 15M+ parameters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41400" y="3492500"/>
            <a:ext cx="698500" cy="33020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" y="3492500"/>
            <a:ext cx="698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64000" y="4127500"/>
            <a:ext cx="0" cy="444500"/>
          </a:xfrm>
          <a:prstGeom prst="straightConnector1">
            <a:avLst/>
          </a:prstGeom>
          <a:noFill/>
          <a:ln w="25400">
            <a:solidFill>
              <a:srgbClr val="52B788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032000" y="4572000"/>
            <a:ext cx="4064000" cy="508000"/>
          </a:xfrm>
          <a:prstGeom prst="roundRect">
            <a:avLst>
              <a:gd name="adj" fmla="val 12000"/>
            </a:avLst>
          </a:prstGeom>
          <a:solidFill>
            <a:srgbClr val="F7F9F6"/>
          </a:solidFill>
          <a:ln w="12700">
            <a:solidFill>
              <a:srgbClr val="5C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2000" y="4572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Extracted Feature Maps (512-dim)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4000" y="5080000"/>
            <a:ext cx="0" cy="635000"/>
          </a:xfrm>
          <a:prstGeom prst="straightConnector1">
            <a:avLst/>
          </a:prstGeom>
          <a:noFill/>
          <a:ln w="25400">
            <a:solidFill>
              <a:srgbClr val="52B788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778000" y="5778500"/>
            <a:ext cx="4572000" cy="889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52B788"/>
              </a:gs>
              <a:gs pos="100000">
                <a:srgbClr val="40916C"/>
              </a:gs>
            </a:gsLst>
            <a:lin ang="54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1778000" y="57785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Linear Head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Trainable · N disease classes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50000" y="6045200"/>
            <a:ext cx="762000" cy="3302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0" y="6045200"/>
            <a:ext cx="76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64000" y="6667500"/>
            <a:ext cx="0" cy="381000"/>
          </a:xfrm>
          <a:prstGeom prst="straightConnector1">
            <a:avLst/>
          </a:prstGeom>
          <a:noFill/>
          <a:ln w="25400">
            <a:solidFill>
              <a:srgbClr val="52B788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2032000" y="7048500"/>
            <a:ext cx="4064000" cy="698500"/>
          </a:xfrm>
          <a:prstGeom prst="roundRect">
            <a:avLst>
              <a:gd name="adj" fmla="val 12000"/>
            </a:avLst>
          </a:prstGeom>
          <a:solidFill>
            <a:srgbClr val="081C15"/>
          </a:solidFill>
          <a:ln/>
        </p:spPr>
      </p:sp>
      <p:sp>
        <p:nvSpPr>
          <p:cNvPr id="21" name="Text 19"/>
          <p:cNvSpPr/>
          <p:nvPr/>
        </p:nvSpPr>
        <p:spPr>
          <a:xfrm>
            <a:off x="2032000" y="70485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Softmax Probabilities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0" y="1651000"/>
            <a:ext cx="7620000" cy="6731000"/>
          </a:xfrm>
          <a:prstGeom prst="roundRect">
            <a:avLst>
              <a:gd name="adj" fmla="val 12000"/>
            </a:avLst>
          </a:prstGeom>
          <a:solidFill>
            <a:srgbClr val="F7F9F6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19685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Transfer Learning Advantages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0010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25" name="Text 23"/>
          <p:cNvSpPr/>
          <p:nvPr/>
        </p:nvSpPr>
        <p:spPr>
          <a:xfrm>
            <a:off x="8534400" y="2730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Leverages 15M+ pre-trained parameters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ImageNet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001000" y="393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5246" y="4862"/>
                </a:moveTo>
                <a:cubicBezTo>
                  <a:pt x="311775" y="-1667"/>
                  <a:pt x="322332" y="-1667"/>
                  <a:pt x="328791" y="4862"/>
                </a:cubicBezTo>
                <a:lnTo>
                  <a:pt x="351016" y="27087"/>
                </a:lnTo>
                <a:cubicBezTo>
                  <a:pt x="357545" y="33615"/>
                  <a:pt x="357545" y="44172"/>
                  <a:pt x="351016" y="50631"/>
                </a:cubicBezTo>
                <a:lnTo>
                  <a:pt x="290592" y="111056"/>
                </a:lnTo>
                <a:lnTo>
                  <a:pt x="317679" y="138142"/>
                </a:lnTo>
                <a:cubicBezTo>
                  <a:pt x="322471" y="142935"/>
                  <a:pt x="323860" y="150088"/>
                  <a:pt x="321290" y="156339"/>
                </a:cubicBezTo>
                <a:cubicBezTo>
                  <a:pt x="318720" y="162590"/>
                  <a:pt x="312678" y="166688"/>
                  <a:pt x="305941" y="166688"/>
                </a:cubicBezTo>
                <a:lnTo>
                  <a:pt x="205929" y="166688"/>
                </a:lnTo>
                <a:cubicBezTo>
                  <a:pt x="196691" y="166688"/>
                  <a:pt x="189260" y="159256"/>
                  <a:pt x="189260" y="150019"/>
                </a:cubicBezTo>
                <a:lnTo>
                  <a:pt x="189260" y="50006"/>
                </a:lnTo>
                <a:cubicBezTo>
                  <a:pt x="189260" y="43269"/>
                  <a:pt x="193288" y="37157"/>
                  <a:pt x="199539" y="34588"/>
                </a:cubicBezTo>
                <a:cubicBezTo>
                  <a:pt x="205790" y="32018"/>
                  <a:pt x="212943" y="33407"/>
                  <a:pt x="217736" y="38199"/>
                </a:cubicBezTo>
                <a:lnTo>
                  <a:pt x="244822" y="65286"/>
                </a:lnTo>
                <a:lnTo>
                  <a:pt x="305246" y="4862"/>
                </a:lnTo>
                <a:close/>
                <a:moveTo>
                  <a:pt x="50354" y="188913"/>
                </a:moveTo>
                <a:lnTo>
                  <a:pt x="150366" y="188913"/>
                </a:lnTo>
                <a:cubicBezTo>
                  <a:pt x="159603" y="188913"/>
                  <a:pt x="167035" y="196344"/>
                  <a:pt x="167035" y="205581"/>
                </a:cubicBezTo>
                <a:lnTo>
                  <a:pt x="167035" y="305594"/>
                </a:lnTo>
                <a:cubicBezTo>
                  <a:pt x="167035" y="312331"/>
                  <a:pt x="163006" y="318443"/>
                  <a:pt x="156756" y="321012"/>
                </a:cubicBezTo>
                <a:cubicBezTo>
                  <a:pt x="150505" y="323582"/>
                  <a:pt x="143351" y="322193"/>
                  <a:pt x="138559" y="317401"/>
                </a:cubicBezTo>
                <a:lnTo>
                  <a:pt x="111472" y="290314"/>
                </a:lnTo>
                <a:lnTo>
                  <a:pt x="51048" y="350738"/>
                </a:lnTo>
                <a:cubicBezTo>
                  <a:pt x="44519" y="357267"/>
                  <a:pt x="33963" y="357267"/>
                  <a:pt x="27503" y="350738"/>
                </a:cubicBezTo>
                <a:lnTo>
                  <a:pt x="5278" y="328513"/>
                </a:lnTo>
                <a:cubicBezTo>
                  <a:pt x="-1250" y="321985"/>
                  <a:pt x="-1250" y="311428"/>
                  <a:pt x="5278" y="304969"/>
                </a:cubicBezTo>
                <a:lnTo>
                  <a:pt x="65703" y="244544"/>
                </a:lnTo>
                <a:lnTo>
                  <a:pt x="38616" y="217458"/>
                </a:lnTo>
                <a:cubicBezTo>
                  <a:pt x="33824" y="212665"/>
                  <a:pt x="32435" y="205512"/>
                  <a:pt x="35004" y="199261"/>
                </a:cubicBezTo>
                <a:cubicBezTo>
                  <a:pt x="37574" y="193010"/>
                  <a:pt x="43617" y="188913"/>
                  <a:pt x="50354" y="188913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27" name="Text 25"/>
          <p:cNvSpPr/>
          <p:nvPr/>
        </p:nvSpPr>
        <p:spPr>
          <a:xfrm>
            <a:off x="8534400" y="3873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Drastically reduces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required training data volume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0010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8534400" y="4635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convergence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converges in just 3 epochs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001000" y="565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31" name="Text 29"/>
          <p:cNvSpPr/>
          <p:nvPr/>
        </p:nvSpPr>
        <p:spPr>
          <a:xfrm>
            <a:off x="8534400" y="55880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accuracy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than training from scratch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001000" y="6604000"/>
            <a:ext cx="6858000" cy="1651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5000" y="67310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Freezing early layers preserves low-level visual patterns (edges, textures) while the custom head learns disease-specific features.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Convergence Analytics: Training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8636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8128000" cy="381000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  <a:gridCol w="2032000"/>
              </a:tblGrid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Epoch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Train Acc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 Acc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Status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2D343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Epoch 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2D343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83.41%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2B7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92.69%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52B7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Strong Start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2D343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Epoch 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2D343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92.31%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2B7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93.16%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2D343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Refining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2D343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Epoch 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2D343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93.17%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2B7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94.19%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52B7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Converged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160000" y="1651000"/>
            <a:ext cx="5080000" cy="4318000"/>
          </a:xfrm>
          <a:prstGeom prst="roundRect">
            <a:avLst>
              <a:gd name="adj" fmla="val 12000"/>
            </a:avLst>
          </a:prstGeom>
          <a:solidFill>
            <a:srgbClr val="F7F9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41000" y="1968500"/>
            <a:ext cx="431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541000" y="273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0339" y="10358"/>
                </a:moveTo>
                <a:cubicBezTo>
                  <a:pt x="160417" y="2917"/>
                  <a:pt x="144304" y="2917"/>
                  <a:pt x="134382" y="10358"/>
                </a:cubicBezTo>
                <a:lnTo>
                  <a:pt x="7382" y="105608"/>
                </a:lnTo>
                <a:cubicBezTo>
                  <a:pt x="-2540" y="113050"/>
                  <a:pt x="-2540" y="125135"/>
                  <a:pt x="7382" y="132576"/>
                </a:cubicBezTo>
                <a:cubicBezTo>
                  <a:pt x="17304" y="140018"/>
                  <a:pt x="33417" y="140018"/>
                  <a:pt x="43339" y="132576"/>
                </a:cubicBezTo>
                <a:lnTo>
                  <a:pt x="127000" y="69830"/>
                </a:lnTo>
                <a:lnTo>
                  <a:pt x="127000" y="290513"/>
                </a:lnTo>
                <a:cubicBezTo>
                  <a:pt x="127000" y="301050"/>
                  <a:pt x="138351" y="309563"/>
                  <a:pt x="152400" y="309563"/>
                </a:cubicBezTo>
                <a:cubicBezTo>
                  <a:pt x="166449" y="309563"/>
                  <a:pt x="177800" y="301050"/>
                  <a:pt x="177800" y="290513"/>
                </a:cubicBezTo>
                <a:lnTo>
                  <a:pt x="177800" y="69830"/>
                </a:lnTo>
                <a:lnTo>
                  <a:pt x="261461" y="132576"/>
                </a:lnTo>
                <a:cubicBezTo>
                  <a:pt x="271383" y="140018"/>
                  <a:pt x="287496" y="140018"/>
                  <a:pt x="297418" y="132576"/>
                </a:cubicBezTo>
                <a:cubicBezTo>
                  <a:pt x="307340" y="125135"/>
                  <a:pt x="307340" y="113050"/>
                  <a:pt x="297418" y="105608"/>
                </a:cubicBezTo>
                <a:lnTo>
                  <a:pt x="170418" y="10358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8" name="Text 5"/>
          <p:cNvSpPr/>
          <p:nvPr/>
        </p:nvSpPr>
        <p:spPr>
          <a:xfrm>
            <a:off x="10985500" y="26670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 acc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exceeds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train acc — excellent generalization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541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0" name="Text 7"/>
          <p:cNvSpPr/>
          <p:nvPr/>
        </p:nvSpPr>
        <p:spPr>
          <a:xfrm>
            <a:off x="10985500" y="3556000"/>
            <a:ext cx="393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overfitting — robust augmentation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541000" y="450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0505" y="-5894"/>
                </a:moveTo>
                <a:cubicBezTo>
                  <a:pt x="238601" y="-774"/>
                  <a:pt x="241595" y="8513"/>
                  <a:pt x="237921" y="16609"/>
                </a:cubicBezTo>
                <a:lnTo>
                  <a:pt x="184581" y="133350"/>
                </a:lnTo>
                <a:lnTo>
                  <a:pt x="283029" y="133350"/>
                </a:lnTo>
                <a:cubicBezTo>
                  <a:pt x="292213" y="133350"/>
                  <a:pt x="300378" y="138351"/>
                  <a:pt x="303507" y="145911"/>
                </a:cubicBezTo>
                <a:cubicBezTo>
                  <a:pt x="306637" y="153472"/>
                  <a:pt x="303984" y="161925"/>
                  <a:pt x="296976" y="167045"/>
                </a:cubicBezTo>
                <a:lnTo>
                  <a:pt x="101033" y="309920"/>
                </a:lnTo>
                <a:cubicBezTo>
                  <a:pt x="93345" y="315516"/>
                  <a:pt x="82391" y="315813"/>
                  <a:pt x="74295" y="310694"/>
                </a:cubicBezTo>
                <a:cubicBezTo>
                  <a:pt x="66199" y="305574"/>
                  <a:pt x="63205" y="296287"/>
                  <a:pt x="66879" y="288191"/>
                </a:cubicBezTo>
                <a:lnTo>
                  <a:pt x="120219" y="171450"/>
                </a:lnTo>
                <a:lnTo>
                  <a:pt x="21771" y="171450"/>
                </a:lnTo>
                <a:cubicBezTo>
                  <a:pt x="12587" y="171450"/>
                  <a:pt x="4422" y="166449"/>
                  <a:pt x="1293" y="158889"/>
                </a:cubicBezTo>
                <a:cubicBezTo>
                  <a:pt x="-1837" y="151328"/>
                  <a:pt x="816" y="142875"/>
                  <a:pt x="7824" y="137755"/>
                </a:cubicBezTo>
                <a:lnTo>
                  <a:pt x="203767" y="-5120"/>
                </a:lnTo>
                <a:cubicBezTo>
                  <a:pt x="211455" y="-10716"/>
                  <a:pt x="222409" y="-11013"/>
                  <a:pt x="230505" y="-5894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2" name="Text 9"/>
          <p:cNvSpPr/>
          <p:nvPr/>
        </p:nvSpPr>
        <p:spPr>
          <a:xfrm>
            <a:off x="10985500" y="44450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convergence in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3 epochs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541000" y="5207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94.19%</a:t>
            </a:r>
            <a:endParaRPr lang="en-US" sz="4200" dirty="0"/>
          </a:p>
        </p:txBody>
      </p:sp>
      <p:sp>
        <p:nvSpPr>
          <p:cNvPr id="14" name="Shape 11"/>
          <p:cNvSpPr/>
          <p:nvPr/>
        </p:nvSpPr>
        <p:spPr>
          <a:xfrm>
            <a:off x="1016000" y="6350000"/>
            <a:ext cx="14224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graphicFrame>
        <p:nvGraphicFramePr>
          <p:cNvPr id="15" name="Chart 0" descr=""/>
          <p:cNvGraphicFramePr/>
          <p:nvPr/>
        </p:nvGraphicFramePr>
        <p:xfrm>
          <a:off x="1270000" y="6477000"/>
          <a:ext cx="13716000" cy="203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Standalone Inference Engine (predict.py)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14224000" cy="330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97000" y="2095500"/>
            <a:ext cx="2286000" cy="10160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/>
        </p:spPr>
      </p:sp>
      <p:sp>
        <p:nvSpPr>
          <p:cNvPr id="5" name="Shape 3"/>
          <p:cNvSpPr/>
          <p:nvPr/>
        </p:nvSpPr>
        <p:spPr>
          <a:xfrm>
            <a:off x="1524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101600" y="77788"/>
                </a:moveTo>
                <a:cubicBezTo>
                  <a:pt x="122628" y="77788"/>
                  <a:pt x="139700" y="92726"/>
                  <a:pt x="139700" y="111125"/>
                </a:cubicBezTo>
                <a:cubicBezTo>
                  <a:pt x="139700" y="129524"/>
                  <a:pt x="122628" y="144463"/>
                  <a:pt x="101600" y="144463"/>
                </a:cubicBezTo>
                <a:cubicBezTo>
                  <a:pt x="80572" y="144463"/>
                  <a:pt x="63500" y="129524"/>
                  <a:pt x="63500" y="111125"/>
                </a:cubicBezTo>
                <a:cubicBezTo>
                  <a:pt x="63500" y="92726"/>
                  <a:pt x="80572" y="77788"/>
                  <a:pt x="101600" y="77788"/>
                </a:cubicBezTo>
                <a:close/>
                <a:moveTo>
                  <a:pt x="215900" y="155575"/>
                </a:moveTo>
                <a:cubicBezTo>
                  <a:pt x="222567" y="155575"/>
                  <a:pt x="228679" y="158631"/>
                  <a:pt x="232172" y="163562"/>
                </a:cubicBezTo>
                <a:lnTo>
                  <a:pt x="302022" y="263575"/>
                </a:lnTo>
                <a:cubicBezTo>
                  <a:pt x="305594" y="268714"/>
                  <a:pt x="305753" y="275173"/>
                  <a:pt x="302419" y="280452"/>
                </a:cubicBezTo>
                <a:cubicBezTo>
                  <a:pt x="299085" y="285730"/>
                  <a:pt x="292656" y="288925"/>
                  <a:pt x="285750" y="288925"/>
                </a:cubicBezTo>
                <a:lnTo>
                  <a:pt x="69850" y="288925"/>
                </a:lnTo>
                <a:cubicBezTo>
                  <a:pt x="62786" y="288925"/>
                  <a:pt x="56198" y="285452"/>
                  <a:pt x="52943" y="279966"/>
                </a:cubicBezTo>
                <a:cubicBezTo>
                  <a:pt x="49689" y="274479"/>
                  <a:pt x="50165" y="267811"/>
                  <a:pt x="54213" y="262741"/>
                </a:cubicBezTo>
                <a:lnTo>
                  <a:pt x="98663" y="207179"/>
                </a:lnTo>
                <a:cubicBezTo>
                  <a:pt x="102235" y="202734"/>
                  <a:pt x="108029" y="200094"/>
                  <a:pt x="114300" y="200094"/>
                </a:cubicBezTo>
                <a:cubicBezTo>
                  <a:pt x="120571" y="200094"/>
                  <a:pt x="126365" y="202734"/>
                  <a:pt x="129937" y="207179"/>
                </a:cubicBezTo>
                <a:lnTo>
                  <a:pt x="150892" y="233432"/>
                </a:lnTo>
                <a:lnTo>
                  <a:pt x="199628" y="163632"/>
                </a:lnTo>
                <a:cubicBezTo>
                  <a:pt x="203121" y="158700"/>
                  <a:pt x="209233" y="155644"/>
                  <a:pt x="215900" y="155644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2603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Input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0" y="2603500"/>
            <a:ext cx="635000" cy="0"/>
          </a:xfrm>
          <a:prstGeom prst="straightConnector1">
            <a:avLst/>
          </a:prstGeom>
          <a:noFill/>
          <a:ln w="25400">
            <a:solidFill>
              <a:srgbClr val="52B788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572000" y="2095500"/>
            <a:ext cx="2286000" cy="10160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/>
        </p:spPr>
      </p:sp>
      <p:sp>
        <p:nvSpPr>
          <p:cNvPr id="9" name="Shape 7"/>
          <p:cNvSpPr/>
          <p:nvPr/>
        </p:nvSpPr>
        <p:spPr>
          <a:xfrm>
            <a:off x="4699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75912"/>
                </a:moveTo>
                <a:lnTo>
                  <a:pt x="349071" y="37991"/>
                </a:lnTo>
                <a:cubicBezTo>
                  <a:pt x="357753" y="29309"/>
                  <a:pt x="357753" y="15210"/>
                  <a:pt x="349071" y="6529"/>
                </a:cubicBezTo>
                <a:cubicBezTo>
                  <a:pt x="340390" y="-2153"/>
                  <a:pt x="326291" y="-2153"/>
                  <a:pt x="317609" y="6529"/>
                </a:cubicBezTo>
                <a:lnTo>
                  <a:pt x="279688" y="44450"/>
                </a:lnTo>
                <a:lnTo>
                  <a:pt x="122238" y="44450"/>
                </a:lnTo>
                <a:lnTo>
                  <a:pt x="122238" y="88900"/>
                </a:lnTo>
                <a:lnTo>
                  <a:pt x="235238" y="88900"/>
                </a:lnTo>
                <a:lnTo>
                  <a:pt x="88900" y="235238"/>
                </a:lnTo>
                <a:lnTo>
                  <a:pt x="88900" y="22225"/>
                </a:lnTo>
                <a:cubicBezTo>
                  <a:pt x="88900" y="9932"/>
                  <a:pt x="78968" y="0"/>
                  <a:pt x="66675" y="0"/>
                </a:cubicBezTo>
                <a:cubicBezTo>
                  <a:pt x="54382" y="0"/>
                  <a:pt x="44450" y="9932"/>
                  <a:pt x="44450" y="22225"/>
                </a:cubicBezTo>
                <a:lnTo>
                  <a:pt x="44450" y="44450"/>
                </a:lnTo>
                <a:lnTo>
                  <a:pt x="22225" y="44450"/>
                </a:ln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44450" y="88900"/>
                </a:ln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233363" y="311150"/>
                </a:lnTo>
                <a:lnTo>
                  <a:pt x="233363" y="266700"/>
                </a:lnTo>
                <a:lnTo>
                  <a:pt x="120362" y="266700"/>
                </a:lnTo>
                <a:lnTo>
                  <a:pt x="266700" y="120362"/>
                </a:lnTo>
                <a:lnTo>
                  <a:pt x="266700" y="333375"/>
                </a:lnTo>
                <a:cubicBezTo>
                  <a:pt x="266700" y="345668"/>
                  <a:pt x="276632" y="355600"/>
                  <a:pt x="288925" y="355600"/>
                </a:cubicBezTo>
                <a:cubicBezTo>
                  <a:pt x="301218" y="355600"/>
                  <a:pt x="311150" y="345668"/>
                  <a:pt x="311150" y="333375"/>
                </a:cubicBezTo>
                <a:lnTo>
                  <a:pt x="311150" y="311150"/>
                </a:ln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311150" y="266700"/>
                </a:lnTo>
                <a:lnTo>
                  <a:pt x="311150" y="75912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603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Resize 224x224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85000" y="2603500"/>
            <a:ext cx="635000" cy="0"/>
          </a:xfrm>
          <a:prstGeom prst="straightConnector1">
            <a:avLst/>
          </a:prstGeom>
          <a:noFill/>
          <a:ln w="25400">
            <a:solidFill>
              <a:srgbClr val="52B788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747000" y="2095500"/>
            <a:ext cx="2286000" cy="10160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/>
        </p:spPr>
      </p:sp>
      <p:sp>
        <p:nvSpPr>
          <p:cNvPr id="13" name="Shape 11"/>
          <p:cNvSpPr/>
          <p:nvPr/>
        </p:nvSpPr>
        <p:spPr>
          <a:xfrm>
            <a:off x="7874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47000" y="2603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0" y="2603500"/>
            <a:ext cx="635000" cy="0"/>
          </a:xfrm>
          <a:prstGeom prst="straightConnector1">
            <a:avLst/>
          </a:prstGeom>
          <a:noFill/>
          <a:ln w="25400">
            <a:solidFill>
              <a:srgbClr val="52B788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922000" y="2095500"/>
            <a:ext cx="2286000" cy="1016000"/>
          </a:xfrm>
          <a:prstGeom prst="roundRect">
            <a:avLst>
              <a:gd name="adj" fmla="val 12000"/>
            </a:avLst>
          </a:prstGeom>
          <a:solidFill>
            <a:srgbClr val="52B78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22000" y="2603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Forward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7000" y="3429000"/>
            <a:ext cx="1346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Single-image transformation: Raw leaf → Resize → Normalize → Tensor → Forward Pass → Class Probabilities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Zero-dependency execution: PyTorch + PIL only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5334000"/>
            <a:ext cx="4445000" cy="2921000"/>
          </a:xfrm>
          <a:prstGeom prst="roundRect">
            <a:avLst>
              <a:gd name="adj" fmla="val 12000"/>
            </a:avLst>
          </a:prstGeom>
          <a:solidFill>
            <a:srgbClr val="F7F9F6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970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22" name="Text 20"/>
          <p:cNvSpPr/>
          <p:nvPr/>
        </p:nvSpPr>
        <p:spPr>
          <a:xfrm>
            <a:off x="1397000" y="6350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99.97% Confidence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97000" y="6858000"/>
            <a:ext cx="368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confidence on held-out validation samples with highly calibrated predictions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05500" y="5334000"/>
            <a:ext cx="4445000" cy="2921000"/>
          </a:xfrm>
          <a:prstGeom prst="roundRect">
            <a:avLst>
              <a:gd name="adj" fmla="val 12000"/>
            </a:avLst>
          </a:prstGeom>
          <a:solidFill>
            <a:srgbClr val="F7F9F6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865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9289" y="200025"/>
                  <a:pt x="65314" y="200025"/>
                </a:cubicBezTo>
                <a:lnTo>
                  <a:pt x="391886" y="200025"/>
                </a:lnTo>
                <a:cubicBezTo>
                  <a:pt x="427911" y="200025"/>
                  <a:pt x="457200" y="174397"/>
                  <a:pt x="457200" y="142875"/>
                </a:cubicBezTo>
                <a:lnTo>
                  <a:pt x="457200" y="85725"/>
                </a:lnTo>
                <a:cubicBezTo>
                  <a:pt x="457200" y="54203"/>
                  <a:pt x="427911" y="28575"/>
                  <a:pt x="391886" y="28575"/>
                </a:cubicBezTo>
                <a:lnTo>
                  <a:pt x="65314" y="28575"/>
                </a:lnTo>
                <a:close/>
                <a:moveTo>
                  <a:pt x="285750" y="92869"/>
                </a:moveTo>
                <a:cubicBezTo>
                  <a:pt x="299268" y="92869"/>
                  <a:pt x="310243" y="102472"/>
                  <a:pt x="310243" y="114300"/>
                </a:cubicBezTo>
                <a:cubicBezTo>
                  <a:pt x="310243" y="126128"/>
                  <a:pt x="299268" y="135731"/>
                  <a:pt x="285750" y="135731"/>
                </a:cubicBezTo>
                <a:cubicBezTo>
                  <a:pt x="272232" y="135731"/>
                  <a:pt x="261257" y="126128"/>
                  <a:pt x="261257" y="114300"/>
                </a:cubicBezTo>
                <a:cubicBezTo>
                  <a:pt x="261257" y="102472"/>
                  <a:pt x="272232" y="92869"/>
                  <a:pt x="285750" y="92869"/>
                </a:cubicBezTo>
                <a:close/>
                <a:moveTo>
                  <a:pt x="342900" y="114300"/>
                </a:moveTo>
                <a:cubicBezTo>
                  <a:pt x="342900" y="102472"/>
                  <a:pt x="353875" y="92869"/>
                  <a:pt x="367393" y="92869"/>
                </a:cubicBezTo>
                <a:cubicBezTo>
                  <a:pt x="380911" y="92869"/>
                  <a:pt x="391886" y="102472"/>
                  <a:pt x="391886" y="114300"/>
                </a:cubicBezTo>
                <a:cubicBezTo>
                  <a:pt x="391886" y="126128"/>
                  <a:pt x="380911" y="135731"/>
                  <a:pt x="367393" y="135731"/>
                </a:cubicBezTo>
                <a:cubicBezTo>
                  <a:pt x="353875" y="135731"/>
                  <a:pt x="342900" y="126128"/>
                  <a:pt x="342900" y="114300"/>
                </a:cubicBezTo>
                <a:close/>
                <a:moveTo>
                  <a:pt x="65314" y="257175"/>
                </a:moveTo>
                <a:cubicBezTo>
                  <a:pt x="29289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314325"/>
                </a:lnTo>
                <a:cubicBezTo>
                  <a:pt x="457200" y="282803"/>
                  <a:pt x="427911" y="257175"/>
                  <a:pt x="391886" y="257175"/>
                </a:cubicBezTo>
                <a:lnTo>
                  <a:pt x="65314" y="257175"/>
                </a:lnTo>
                <a:close/>
                <a:moveTo>
                  <a:pt x="285750" y="321469"/>
                </a:moveTo>
                <a:cubicBezTo>
                  <a:pt x="299268" y="321469"/>
                  <a:pt x="310243" y="331072"/>
                  <a:pt x="310243" y="342900"/>
                </a:cubicBezTo>
                <a:cubicBezTo>
                  <a:pt x="310243" y="354728"/>
                  <a:pt x="299268" y="364331"/>
                  <a:pt x="285750" y="364331"/>
                </a:cubicBezTo>
                <a:cubicBezTo>
                  <a:pt x="272232" y="364331"/>
                  <a:pt x="261257" y="354728"/>
                  <a:pt x="261257" y="342900"/>
                </a:cubicBezTo>
                <a:cubicBezTo>
                  <a:pt x="261257" y="331072"/>
                  <a:pt x="272232" y="321469"/>
                  <a:pt x="285750" y="321469"/>
                </a:cubicBezTo>
                <a:close/>
                <a:moveTo>
                  <a:pt x="342900" y="342900"/>
                </a:moveTo>
                <a:cubicBezTo>
                  <a:pt x="342900" y="331072"/>
                  <a:pt x="353875" y="321469"/>
                  <a:pt x="367393" y="321469"/>
                </a:cubicBezTo>
                <a:cubicBezTo>
                  <a:pt x="380911" y="321469"/>
                  <a:pt x="391886" y="331072"/>
                  <a:pt x="391886" y="342900"/>
                </a:cubicBezTo>
                <a:cubicBezTo>
                  <a:pt x="391886" y="354728"/>
                  <a:pt x="380911" y="364331"/>
                  <a:pt x="367393" y="364331"/>
                </a:cubicBezTo>
                <a:cubicBezTo>
                  <a:pt x="353875" y="364331"/>
                  <a:pt x="342900" y="354728"/>
                  <a:pt x="342900" y="34290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26" name="Text 24"/>
          <p:cNvSpPr/>
          <p:nvPr/>
        </p:nvSpPr>
        <p:spPr>
          <a:xfrm>
            <a:off x="6286500" y="6350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Edge-Deployable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86500" y="6858000"/>
            <a:ext cx="368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script deployable on edge devices, cloud servers, and mobile platforms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795000" y="5334000"/>
            <a:ext cx="4445000" cy="2921000"/>
          </a:xfrm>
          <a:prstGeom prst="roundRect">
            <a:avLst>
              <a:gd name="adj" fmla="val 12000"/>
            </a:avLst>
          </a:prstGeom>
          <a:solidFill>
            <a:srgbClr val="F7F9F6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1760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325" y="0"/>
                </a:moveTo>
                <a:cubicBezTo>
                  <a:pt x="350937" y="0"/>
                  <a:pt x="386030" y="14555"/>
                  <a:pt x="411837" y="40362"/>
                </a:cubicBezTo>
                <a:lnTo>
                  <a:pt x="416749" y="45274"/>
                </a:lnTo>
                <a:cubicBezTo>
                  <a:pt x="442645" y="71170"/>
                  <a:pt x="457200" y="106263"/>
                  <a:pt x="457200" y="142786"/>
                </a:cubicBezTo>
                <a:cubicBezTo>
                  <a:pt x="457200" y="164306"/>
                  <a:pt x="452110" y="185291"/>
                  <a:pt x="442734" y="204222"/>
                </a:cubicBezTo>
                <a:cubicBezTo>
                  <a:pt x="441037" y="207526"/>
                  <a:pt x="438001" y="210026"/>
                  <a:pt x="434429" y="211098"/>
                </a:cubicBezTo>
                <a:lnTo>
                  <a:pt x="334417" y="241102"/>
                </a:lnTo>
                <a:cubicBezTo>
                  <a:pt x="330934" y="242173"/>
                  <a:pt x="328613" y="245299"/>
                  <a:pt x="328613" y="248960"/>
                </a:cubicBezTo>
                <a:cubicBezTo>
                  <a:pt x="328613" y="253514"/>
                  <a:pt x="332274" y="257175"/>
                  <a:pt x="336828" y="257175"/>
                </a:cubicBezTo>
                <a:lnTo>
                  <a:pt x="365581" y="257175"/>
                </a:lnTo>
                <a:cubicBezTo>
                  <a:pt x="378351" y="257175"/>
                  <a:pt x="384691" y="272534"/>
                  <a:pt x="375672" y="281553"/>
                </a:cubicBezTo>
                <a:lnTo>
                  <a:pt x="355669" y="301556"/>
                </a:lnTo>
                <a:cubicBezTo>
                  <a:pt x="353973" y="303252"/>
                  <a:pt x="351919" y="304413"/>
                  <a:pt x="349687" y="305127"/>
                </a:cubicBezTo>
                <a:lnTo>
                  <a:pt x="277356" y="326827"/>
                </a:lnTo>
                <a:cubicBezTo>
                  <a:pt x="273874" y="327898"/>
                  <a:pt x="271552" y="331024"/>
                  <a:pt x="271552" y="334685"/>
                </a:cubicBezTo>
                <a:cubicBezTo>
                  <a:pt x="271552" y="339239"/>
                  <a:pt x="275213" y="342900"/>
                  <a:pt x="279767" y="342900"/>
                </a:cubicBezTo>
                <a:cubicBezTo>
                  <a:pt x="291554" y="342900"/>
                  <a:pt x="296644" y="356920"/>
                  <a:pt x="286732" y="363349"/>
                </a:cubicBezTo>
                <a:cubicBezTo>
                  <a:pt x="250031" y="387102"/>
                  <a:pt x="206990" y="400050"/>
                  <a:pt x="162610" y="400050"/>
                </a:cubicBezTo>
                <a:lnTo>
                  <a:pt x="85814" y="400050"/>
                </a:lnTo>
                <a:lnTo>
                  <a:pt x="42952" y="442913"/>
                </a:lnTo>
                <a:cubicBezTo>
                  <a:pt x="35094" y="450771"/>
                  <a:pt x="22235" y="450771"/>
                  <a:pt x="14377" y="442913"/>
                </a:cubicBezTo>
                <a:cubicBezTo>
                  <a:pt x="6519" y="435054"/>
                  <a:pt x="6519" y="422196"/>
                  <a:pt x="14377" y="414338"/>
                </a:cubicBezTo>
                <a:lnTo>
                  <a:pt x="228600" y="200025"/>
                </a:lnTo>
                <a:cubicBezTo>
                  <a:pt x="236458" y="192167"/>
                  <a:pt x="236458" y="179308"/>
                  <a:pt x="228600" y="171450"/>
                </a:cubicBezTo>
                <a:cubicBezTo>
                  <a:pt x="220742" y="163592"/>
                  <a:pt x="207883" y="163592"/>
                  <a:pt x="200025" y="171450"/>
                </a:cubicBezTo>
                <a:lnTo>
                  <a:pt x="70991" y="300484"/>
                </a:lnTo>
                <a:cubicBezTo>
                  <a:pt x="65901" y="305574"/>
                  <a:pt x="57150" y="302002"/>
                  <a:pt x="57150" y="294769"/>
                </a:cubicBezTo>
                <a:cubicBezTo>
                  <a:pt x="57150" y="234136"/>
                  <a:pt x="81260" y="176004"/>
                  <a:pt x="124123" y="133142"/>
                </a:cubicBezTo>
                <a:lnTo>
                  <a:pt x="216813" y="40362"/>
                </a:lnTo>
                <a:cubicBezTo>
                  <a:pt x="242620" y="14555"/>
                  <a:pt x="277713" y="0"/>
                  <a:pt x="314325" y="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30" name="Text 28"/>
          <p:cNvSpPr/>
          <p:nvPr/>
        </p:nvSpPr>
        <p:spPr>
          <a:xfrm>
            <a:off x="11176000" y="63500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Dependencies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176000" y="6858000"/>
            <a:ext cx="368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execution footprint requiring only PyTorch and PIL for full inference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UI Dashboard (main.py)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6858000" cy="317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97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1397000" y="26670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97000" y="3175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web app deployment with pure Python. No frontend coding required. Instant prototype-to-production pipeline.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1651000"/>
            <a:ext cx="6858000" cy="317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63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25628" y="57150"/>
                  <a:pt x="0" y="82778"/>
                  <a:pt x="0" y="114300"/>
                </a:cubicBezTo>
                <a:lnTo>
                  <a:pt x="0" y="120908"/>
                </a:lnTo>
                <a:cubicBezTo>
                  <a:pt x="0" y="126980"/>
                  <a:pt x="3929" y="132159"/>
                  <a:pt x="9019" y="135463"/>
                </a:cubicBezTo>
                <a:cubicBezTo>
                  <a:pt x="20806" y="143143"/>
                  <a:pt x="28575" y="156359"/>
                  <a:pt x="28575" y="171450"/>
                </a:cubicBezTo>
                <a:cubicBezTo>
                  <a:pt x="28575" y="186541"/>
                  <a:pt x="20806" y="199757"/>
                  <a:pt x="9019" y="207437"/>
                </a:cubicBezTo>
                <a:cubicBezTo>
                  <a:pt x="3929" y="210741"/>
                  <a:pt x="0" y="215920"/>
                  <a:pt x="0" y="221992"/>
                </a:cubicBezTo>
                <a:lnTo>
                  <a:pt x="0" y="271463"/>
                </a:lnTo>
                <a:lnTo>
                  <a:pt x="457200" y="271463"/>
                </a:lnTo>
                <a:lnTo>
                  <a:pt x="457200" y="221992"/>
                </a:lnTo>
                <a:cubicBezTo>
                  <a:pt x="457200" y="215920"/>
                  <a:pt x="453271" y="210741"/>
                  <a:pt x="448181" y="207437"/>
                </a:cubicBezTo>
                <a:cubicBezTo>
                  <a:pt x="436394" y="199757"/>
                  <a:pt x="428625" y="186541"/>
                  <a:pt x="428625" y="171450"/>
                </a:cubicBezTo>
                <a:cubicBezTo>
                  <a:pt x="428625" y="156359"/>
                  <a:pt x="436394" y="143143"/>
                  <a:pt x="448181" y="135463"/>
                </a:cubicBezTo>
                <a:cubicBezTo>
                  <a:pt x="453271" y="132159"/>
                  <a:pt x="457200" y="126980"/>
                  <a:pt x="457200" y="120908"/>
                </a:cubicBezTo>
                <a:lnTo>
                  <a:pt x="457200" y="114300"/>
                </a:lnTo>
                <a:cubicBezTo>
                  <a:pt x="457200" y="82778"/>
                  <a:pt x="431572" y="57150"/>
                  <a:pt x="400050" y="57150"/>
                </a:cubicBezTo>
                <a:lnTo>
                  <a:pt x="57150" y="57150"/>
                </a:lnTo>
                <a:close/>
                <a:moveTo>
                  <a:pt x="457200" y="371475"/>
                </a:moveTo>
                <a:lnTo>
                  <a:pt x="457200" y="314325"/>
                </a:lnTo>
                <a:lnTo>
                  <a:pt x="0" y="314325"/>
                </a:lnTo>
                <a:lnTo>
                  <a:pt x="0" y="371475"/>
                </a:lnTo>
                <a:cubicBezTo>
                  <a:pt x="0" y="387281"/>
                  <a:pt x="12769" y="400050"/>
                  <a:pt x="28575" y="400050"/>
                </a:cubicBezTo>
                <a:lnTo>
                  <a:pt x="85725" y="400050"/>
                </a:lnTo>
                <a:lnTo>
                  <a:pt x="85725" y="378619"/>
                </a:lnTo>
                <a:cubicBezTo>
                  <a:pt x="85725" y="366742"/>
                  <a:pt x="95280" y="357188"/>
                  <a:pt x="107156" y="357188"/>
                </a:cubicBezTo>
                <a:cubicBezTo>
                  <a:pt x="119033" y="357188"/>
                  <a:pt x="128588" y="366742"/>
                  <a:pt x="128588" y="378619"/>
                </a:cubicBezTo>
                <a:lnTo>
                  <a:pt x="128588" y="400050"/>
                </a:lnTo>
                <a:lnTo>
                  <a:pt x="207169" y="400050"/>
                </a:lnTo>
                <a:lnTo>
                  <a:pt x="207169" y="378619"/>
                </a:lnTo>
                <a:cubicBezTo>
                  <a:pt x="207169" y="366742"/>
                  <a:pt x="216724" y="357188"/>
                  <a:pt x="228600" y="357188"/>
                </a:cubicBezTo>
                <a:cubicBezTo>
                  <a:pt x="240476" y="357188"/>
                  <a:pt x="250031" y="366742"/>
                  <a:pt x="250031" y="378619"/>
                </a:cubicBezTo>
                <a:lnTo>
                  <a:pt x="250031" y="400050"/>
                </a:lnTo>
                <a:lnTo>
                  <a:pt x="328613" y="400050"/>
                </a:lnTo>
                <a:lnTo>
                  <a:pt x="328613" y="378619"/>
                </a:lnTo>
                <a:cubicBezTo>
                  <a:pt x="328613" y="366742"/>
                  <a:pt x="338167" y="357188"/>
                  <a:pt x="350044" y="357188"/>
                </a:cubicBezTo>
                <a:cubicBezTo>
                  <a:pt x="361920" y="357188"/>
                  <a:pt x="371475" y="366742"/>
                  <a:pt x="371475" y="378619"/>
                </a:cubicBezTo>
                <a:lnTo>
                  <a:pt x="371475" y="400050"/>
                </a:ln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lose/>
                <a:moveTo>
                  <a:pt x="142875" y="142875"/>
                </a:moveTo>
                <a:lnTo>
                  <a:pt x="142875" y="200025"/>
                </a:lnTo>
                <a:cubicBezTo>
                  <a:pt x="142875" y="215831"/>
                  <a:pt x="130106" y="228600"/>
                  <a:pt x="114300" y="228600"/>
                </a:cubicBezTo>
                <a:cubicBezTo>
                  <a:pt x="98494" y="228600"/>
                  <a:pt x="85725" y="215831"/>
                  <a:pt x="85725" y="200025"/>
                </a:cubicBezTo>
                <a:lnTo>
                  <a:pt x="85725" y="142875"/>
                </a:lnTo>
                <a:cubicBezTo>
                  <a:pt x="85725" y="127069"/>
                  <a:pt x="98494" y="114300"/>
                  <a:pt x="114300" y="114300"/>
                </a:cubicBezTo>
                <a:cubicBezTo>
                  <a:pt x="130106" y="114300"/>
                  <a:pt x="142875" y="127069"/>
                  <a:pt x="142875" y="142875"/>
                </a:cubicBezTo>
                <a:close/>
                <a:moveTo>
                  <a:pt x="257175" y="142875"/>
                </a:moveTo>
                <a:lnTo>
                  <a:pt x="257175" y="200025"/>
                </a:lnTo>
                <a:cubicBezTo>
                  <a:pt x="257175" y="215831"/>
                  <a:pt x="244406" y="228600"/>
                  <a:pt x="228600" y="228600"/>
                </a:cubicBezTo>
                <a:cubicBezTo>
                  <a:pt x="212794" y="228600"/>
                  <a:pt x="200025" y="215831"/>
                  <a:pt x="200025" y="200025"/>
                </a:cubicBezTo>
                <a:lnTo>
                  <a:pt x="200025" y="142875"/>
                </a:lnTo>
                <a:cubicBezTo>
                  <a:pt x="200025" y="127069"/>
                  <a:pt x="212794" y="114300"/>
                  <a:pt x="228600" y="114300"/>
                </a:cubicBezTo>
                <a:cubicBezTo>
                  <a:pt x="244406" y="114300"/>
                  <a:pt x="257175" y="127069"/>
                  <a:pt x="257175" y="142875"/>
                </a:cubicBezTo>
                <a:close/>
                <a:moveTo>
                  <a:pt x="371475" y="142875"/>
                </a:moveTo>
                <a:lnTo>
                  <a:pt x="371475" y="200025"/>
                </a:lnTo>
                <a:cubicBezTo>
                  <a:pt x="371475" y="215831"/>
                  <a:pt x="358706" y="228600"/>
                  <a:pt x="342900" y="228600"/>
                </a:cubicBezTo>
                <a:cubicBezTo>
                  <a:pt x="327094" y="228600"/>
                  <a:pt x="314325" y="215831"/>
                  <a:pt x="314325" y="200025"/>
                </a:cubicBezTo>
                <a:lnTo>
                  <a:pt x="314325" y="142875"/>
                </a:lnTo>
                <a:cubicBezTo>
                  <a:pt x="314325" y="127069"/>
                  <a:pt x="327094" y="114300"/>
                  <a:pt x="342900" y="114300"/>
                </a:cubicBezTo>
                <a:cubicBezTo>
                  <a:pt x="358706" y="114300"/>
                  <a:pt x="371475" y="127069"/>
                  <a:pt x="371475" y="142875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0" y="26670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 Caching (@st.cache_resource)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763000" y="3175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singleton pattern ensures one-time loading. Eliminates redundant initialization across user sessions.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6000" y="5207000"/>
            <a:ext cx="6858000" cy="317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97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428625"/>
                </a:moveTo>
                <a:cubicBezTo>
                  <a:pt x="51197" y="428625"/>
                  <a:pt x="0" y="371029"/>
                  <a:pt x="0" y="300038"/>
                </a:cubicBezTo>
                <a:cubicBezTo>
                  <a:pt x="0" y="243423"/>
                  <a:pt x="32544" y="195382"/>
                  <a:pt x="77708" y="178147"/>
                </a:cubicBezTo>
                <a:cubicBezTo>
                  <a:pt x="76676" y="171271"/>
                  <a:pt x="76200" y="164306"/>
                  <a:pt x="76200" y="157163"/>
                </a:cubicBezTo>
                <a:cubicBezTo>
                  <a:pt x="76200" y="86171"/>
                  <a:pt x="127397" y="28575"/>
                  <a:pt x="190500" y="28575"/>
                </a:cubicBezTo>
                <a:cubicBezTo>
                  <a:pt x="234474" y="28575"/>
                  <a:pt x="272653" y="56525"/>
                  <a:pt x="291783" y="97423"/>
                </a:cubicBezTo>
                <a:cubicBezTo>
                  <a:pt x="303054" y="90011"/>
                  <a:pt x="316230" y="85725"/>
                  <a:pt x="330200" y="85725"/>
                </a:cubicBezTo>
                <a:cubicBezTo>
                  <a:pt x="372269" y="85725"/>
                  <a:pt x="406400" y="124123"/>
                  <a:pt x="406400" y="171450"/>
                </a:cubicBezTo>
                <a:cubicBezTo>
                  <a:pt x="406400" y="185470"/>
                  <a:pt x="403384" y="198775"/>
                  <a:pt x="398066" y="210473"/>
                </a:cubicBezTo>
                <a:cubicBezTo>
                  <a:pt x="432991" y="228600"/>
                  <a:pt x="457200" y="268248"/>
                  <a:pt x="457200" y="314325"/>
                </a:cubicBezTo>
                <a:cubicBezTo>
                  <a:pt x="457200" y="377458"/>
                  <a:pt x="411718" y="428625"/>
                  <a:pt x="355600" y="428625"/>
                </a:cubicBezTo>
                <a:lnTo>
                  <a:pt x="114300" y="428625"/>
                </a:lnTo>
                <a:close/>
                <a:moveTo>
                  <a:pt x="242094" y="170557"/>
                </a:moveTo>
                <a:cubicBezTo>
                  <a:pt x="234633" y="162163"/>
                  <a:pt x="222567" y="162163"/>
                  <a:pt x="215186" y="170557"/>
                </a:cubicBezTo>
                <a:lnTo>
                  <a:pt x="158036" y="234851"/>
                </a:lnTo>
                <a:cubicBezTo>
                  <a:pt x="150574" y="243245"/>
                  <a:pt x="150574" y="256818"/>
                  <a:pt x="158036" y="265122"/>
                </a:cubicBezTo>
                <a:cubicBezTo>
                  <a:pt x="165497" y="273427"/>
                  <a:pt x="177562" y="273516"/>
                  <a:pt x="184944" y="265122"/>
                </a:cubicBezTo>
                <a:lnTo>
                  <a:pt x="209550" y="237440"/>
                </a:lnTo>
                <a:lnTo>
                  <a:pt x="209550" y="328613"/>
                </a:lnTo>
                <a:cubicBezTo>
                  <a:pt x="209550" y="340489"/>
                  <a:pt x="218043" y="350044"/>
                  <a:pt x="228600" y="350044"/>
                </a:cubicBezTo>
                <a:cubicBezTo>
                  <a:pt x="239157" y="350044"/>
                  <a:pt x="247650" y="340489"/>
                  <a:pt x="247650" y="328613"/>
                </a:cubicBezTo>
                <a:lnTo>
                  <a:pt x="247650" y="237440"/>
                </a:lnTo>
                <a:lnTo>
                  <a:pt x="272256" y="265122"/>
                </a:lnTo>
                <a:cubicBezTo>
                  <a:pt x="279717" y="273516"/>
                  <a:pt x="291783" y="273516"/>
                  <a:pt x="299164" y="265122"/>
                </a:cubicBezTo>
                <a:cubicBezTo>
                  <a:pt x="306546" y="256729"/>
                  <a:pt x="306626" y="243155"/>
                  <a:pt x="299164" y="234851"/>
                </a:cubicBezTo>
                <a:lnTo>
                  <a:pt x="242014" y="170557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1397000" y="62230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Drag-and-Drop Upload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6731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Intuitive file upload interface for leaf image ingestion. Supports JPG, PNG formats with automatic validation.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0" y="5207000"/>
            <a:ext cx="6858000" cy="317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63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10537" y="0"/>
                  <a:pt x="195943" y="12769"/>
                  <a:pt x="195943" y="28575"/>
                </a:cubicBezTo>
                <a:lnTo>
                  <a:pt x="195943" y="31433"/>
                </a:lnTo>
                <a:cubicBezTo>
                  <a:pt x="121444" y="44648"/>
                  <a:pt x="65314" y="102334"/>
                  <a:pt x="65314" y="171450"/>
                </a:cubicBezTo>
                <a:lnTo>
                  <a:pt x="65314" y="190827"/>
                </a:lnTo>
                <a:cubicBezTo>
                  <a:pt x="65314" y="233779"/>
                  <a:pt x="48578" y="275481"/>
                  <a:pt x="17961" y="309056"/>
                </a:cubicBezTo>
                <a:lnTo>
                  <a:pt x="7960" y="319951"/>
                </a:lnTo>
                <a:cubicBezTo>
                  <a:pt x="2755" y="325576"/>
                  <a:pt x="0" y="332542"/>
                  <a:pt x="0" y="339775"/>
                </a:cubicBezTo>
                <a:cubicBezTo>
                  <a:pt x="0" y="357277"/>
                  <a:pt x="16227" y="371475"/>
                  <a:pt x="36229" y="371475"/>
                </a:cubicBezTo>
                <a:lnTo>
                  <a:pt x="420869" y="371475"/>
                </a:lnTo>
                <a:cubicBezTo>
                  <a:pt x="440871" y="371475"/>
                  <a:pt x="457098" y="357277"/>
                  <a:pt x="457098" y="339775"/>
                </a:cubicBezTo>
                <a:cubicBezTo>
                  <a:pt x="457098" y="332542"/>
                  <a:pt x="454343" y="325576"/>
                  <a:pt x="449138" y="319951"/>
                </a:cubicBezTo>
                <a:lnTo>
                  <a:pt x="439137" y="309056"/>
                </a:lnTo>
                <a:cubicBezTo>
                  <a:pt x="408623" y="275481"/>
                  <a:pt x="391886" y="233779"/>
                  <a:pt x="391886" y="190827"/>
                </a:cubicBezTo>
                <a:lnTo>
                  <a:pt x="391886" y="171450"/>
                </a:lnTo>
                <a:cubicBezTo>
                  <a:pt x="391886" y="102334"/>
                  <a:pt x="335756" y="44648"/>
                  <a:pt x="261257" y="31432"/>
                </a:cubicBezTo>
                <a:lnTo>
                  <a:pt x="261257" y="28575"/>
                </a:lnTo>
                <a:cubicBezTo>
                  <a:pt x="261257" y="12769"/>
                  <a:pt x="246663" y="0"/>
                  <a:pt x="228600" y="0"/>
                </a:cubicBezTo>
                <a:close/>
                <a:moveTo>
                  <a:pt x="165327" y="414338"/>
                </a:moveTo>
                <a:cubicBezTo>
                  <a:pt x="172573" y="438983"/>
                  <a:pt x="198188" y="457200"/>
                  <a:pt x="228600" y="457200"/>
                </a:cubicBezTo>
                <a:cubicBezTo>
                  <a:pt x="259012" y="457200"/>
                  <a:pt x="284627" y="438983"/>
                  <a:pt x="291873" y="414338"/>
                </a:cubicBezTo>
                <a:lnTo>
                  <a:pt x="165327" y="414338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62230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Status Messaging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63000" y="6731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 banners, success confirmations, and warning alerts. Mobile-responsive layout accessible from any device.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Directory &amp; Open-Source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6000" y="1651000"/>
            <a:ext cx="7366000" cy="6731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97000" y="1968500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Directory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970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311150"/>
                </a:move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00013"/>
                </a:lnTo>
                <a:cubicBezTo>
                  <a:pt x="355600" y="75496"/>
                  <a:pt x="335667" y="55563"/>
                  <a:pt x="311150" y="55563"/>
                </a:cubicBezTo>
                <a:lnTo>
                  <a:pt x="207456" y="55563"/>
                </a:lnTo>
                <a:cubicBezTo>
                  <a:pt x="202664" y="55563"/>
                  <a:pt x="197941" y="54035"/>
                  <a:pt x="194121" y="51117"/>
                </a:cubicBezTo>
                <a:lnTo>
                  <a:pt x="167451" y="31115"/>
                </a:lnTo>
                <a:cubicBezTo>
                  <a:pt x="159742" y="25350"/>
                  <a:pt x="150366" y="22225"/>
                  <a:pt x="140781" y="22225"/>
                </a:cubicBezTo>
                <a:lnTo>
                  <a:pt x="44450" y="22225"/>
                </a:lnTo>
                <a:cubicBezTo>
                  <a:pt x="19933" y="22225"/>
                  <a:pt x="0" y="42158"/>
                  <a:pt x="0" y="66675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1879600" y="26416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Crop-Disease-Predictor/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79600" y="3175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C6B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data/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Train, val, test image datasets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9600" y="3581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C6B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models/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Serialized .pth checkpoints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9600" y="39878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C6B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notebooks/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Jupyter experiments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9600" y="43942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C6B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Core source 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22500" y="48260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  ├── train.py — Training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22500" y="51816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  ├── predict.py — Inference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22500" y="55372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  └── main.py — Streamlit UI app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9600" y="59436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C6B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assets/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Static images &amp; branding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79600" y="6350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C6B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.gitignore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Strict exclusions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79600" y="6756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├──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C6B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README.md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Documentation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79600" y="71628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└──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C6B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requirements.txt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Dependencies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90000" y="1651000"/>
            <a:ext cx="6350000" cy="3048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1B4332"/>
              </a:gs>
              <a:gs pos="100000">
                <a:srgbClr val="2D6A4F"/>
              </a:gs>
            </a:gsLst>
            <a:lin ang="8100000" scaled="1"/>
          </a:gradFill>
          <a:ln/>
          <a:effectLst>
            <a:outerShdw sx="100000" sy="100000" kx="0" ky="0" algn="bl" rotWithShape="0" blurRad="203200" dist="50800" dir="5400000">
              <a:srgbClr val="1b4332">
                <a:alpha val="1254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71000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2541" y="394295"/>
                </a:moveTo>
                <a:cubicBezTo>
                  <a:pt x="172541" y="396280"/>
                  <a:pt x="170259" y="397867"/>
                  <a:pt x="167382" y="397867"/>
                </a:cubicBezTo>
                <a:cubicBezTo>
                  <a:pt x="164108" y="398165"/>
                  <a:pt x="161826" y="396577"/>
                  <a:pt x="161826" y="394295"/>
                </a:cubicBezTo>
                <a:cubicBezTo>
                  <a:pt x="161826" y="392311"/>
                  <a:pt x="164108" y="390723"/>
                  <a:pt x="166985" y="390723"/>
                </a:cubicBezTo>
                <a:cubicBezTo>
                  <a:pt x="169962" y="390426"/>
                  <a:pt x="172541" y="392013"/>
                  <a:pt x="172541" y="394295"/>
                </a:cubicBezTo>
                <a:close/>
                <a:moveTo>
                  <a:pt x="141684" y="389830"/>
                </a:moveTo>
                <a:cubicBezTo>
                  <a:pt x="140990" y="391815"/>
                  <a:pt x="142974" y="394097"/>
                  <a:pt x="145951" y="394692"/>
                </a:cubicBezTo>
                <a:cubicBezTo>
                  <a:pt x="148530" y="395684"/>
                  <a:pt x="151507" y="394692"/>
                  <a:pt x="152102" y="392708"/>
                </a:cubicBezTo>
                <a:cubicBezTo>
                  <a:pt x="152698" y="390723"/>
                  <a:pt x="150813" y="388441"/>
                  <a:pt x="147836" y="387548"/>
                </a:cubicBezTo>
                <a:cubicBezTo>
                  <a:pt x="145256" y="386854"/>
                  <a:pt x="142379" y="387846"/>
                  <a:pt x="141684" y="389830"/>
                </a:cubicBezTo>
                <a:close/>
                <a:moveTo>
                  <a:pt x="185539" y="388144"/>
                </a:moveTo>
                <a:cubicBezTo>
                  <a:pt x="182662" y="388838"/>
                  <a:pt x="180677" y="390723"/>
                  <a:pt x="180975" y="393005"/>
                </a:cubicBezTo>
                <a:cubicBezTo>
                  <a:pt x="181273" y="394990"/>
                  <a:pt x="183852" y="396280"/>
                  <a:pt x="186829" y="395585"/>
                </a:cubicBezTo>
                <a:cubicBezTo>
                  <a:pt x="189706" y="394891"/>
                  <a:pt x="191691" y="393005"/>
                  <a:pt x="191393" y="391021"/>
                </a:cubicBezTo>
                <a:cubicBezTo>
                  <a:pt x="191095" y="389136"/>
                  <a:pt x="188416" y="387846"/>
                  <a:pt x="185539" y="388144"/>
                </a:cubicBezTo>
                <a:close/>
                <a:moveTo>
                  <a:pt x="250825" y="7938"/>
                </a:moveTo>
                <a:cubicBezTo>
                  <a:pt x="113209" y="7938"/>
                  <a:pt x="7938" y="112415"/>
                  <a:pt x="7938" y="250031"/>
                </a:cubicBezTo>
                <a:cubicBezTo>
                  <a:pt x="7938" y="360065"/>
                  <a:pt x="77192" y="454223"/>
                  <a:pt x="176113" y="487362"/>
                </a:cubicBezTo>
                <a:cubicBezTo>
                  <a:pt x="188813" y="489645"/>
                  <a:pt x="193278" y="481806"/>
                  <a:pt x="193278" y="475357"/>
                </a:cubicBezTo>
                <a:cubicBezTo>
                  <a:pt x="193278" y="469205"/>
                  <a:pt x="192980" y="435273"/>
                  <a:pt x="192980" y="414437"/>
                </a:cubicBezTo>
                <a:cubicBezTo>
                  <a:pt x="192980" y="414437"/>
                  <a:pt x="123527" y="429320"/>
                  <a:pt x="108942" y="384870"/>
                </a:cubicBezTo>
                <a:cubicBezTo>
                  <a:pt x="108942" y="384870"/>
                  <a:pt x="97631" y="355997"/>
                  <a:pt x="81359" y="348555"/>
                </a:cubicBezTo>
                <a:cubicBezTo>
                  <a:pt x="81359" y="348555"/>
                  <a:pt x="58638" y="332978"/>
                  <a:pt x="82947" y="333276"/>
                </a:cubicBezTo>
                <a:cubicBezTo>
                  <a:pt x="82947" y="333276"/>
                  <a:pt x="107652" y="335260"/>
                  <a:pt x="121245" y="358874"/>
                </a:cubicBezTo>
                <a:cubicBezTo>
                  <a:pt x="142974" y="397173"/>
                  <a:pt x="179388" y="386159"/>
                  <a:pt x="193576" y="379611"/>
                </a:cubicBezTo>
                <a:cubicBezTo>
                  <a:pt x="195858" y="363736"/>
                  <a:pt x="202307" y="352723"/>
                  <a:pt x="209451" y="346174"/>
                </a:cubicBezTo>
                <a:cubicBezTo>
                  <a:pt x="153988" y="340023"/>
                  <a:pt x="98028" y="331986"/>
                  <a:pt x="98028" y="236537"/>
                </a:cubicBezTo>
                <a:cubicBezTo>
                  <a:pt x="98028" y="209252"/>
                  <a:pt x="105569" y="195560"/>
                  <a:pt x="121444" y="178098"/>
                </a:cubicBezTo>
                <a:cubicBezTo>
                  <a:pt x="118864" y="171648"/>
                  <a:pt x="110430" y="145058"/>
                  <a:pt x="124023" y="110728"/>
                </a:cubicBezTo>
                <a:cubicBezTo>
                  <a:pt x="144760" y="104279"/>
                  <a:pt x="192484" y="137517"/>
                  <a:pt x="192484" y="137517"/>
                </a:cubicBezTo>
                <a:cubicBezTo>
                  <a:pt x="212328" y="131961"/>
                  <a:pt x="233660" y="129084"/>
                  <a:pt x="254794" y="129084"/>
                </a:cubicBezTo>
                <a:cubicBezTo>
                  <a:pt x="275927" y="129084"/>
                  <a:pt x="297259" y="131961"/>
                  <a:pt x="317103" y="137517"/>
                </a:cubicBezTo>
                <a:cubicBezTo>
                  <a:pt x="317103" y="137517"/>
                  <a:pt x="364827" y="104180"/>
                  <a:pt x="385564" y="110728"/>
                </a:cubicBezTo>
                <a:cubicBezTo>
                  <a:pt x="399157" y="145157"/>
                  <a:pt x="390723" y="171648"/>
                  <a:pt x="388144" y="178098"/>
                </a:cubicBezTo>
                <a:cubicBezTo>
                  <a:pt x="404019" y="195659"/>
                  <a:pt x="413742" y="209352"/>
                  <a:pt x="413742" y="236537"/>
                </a:cubicBezTo>
                <a:cubicBezTo>
                  <a:pt x="413742" y="332284"/>
                  <a:pt x="355302" y="339923"/>
                  <a:pt x="299839" y="346174"/>
                </a:cubicBezTo>
                <a:cubicBezTo>
                  <a:pt x="308967" y="354012"/>
                  <a:pt x="316706" y="368895"/>
                  <a:pt x="316706" y="392212"/>
                </a:cubicBezTo>
                <a:cubicBezTo>
                  <a:pt x="316706" y="425648"/>
                  <a:pt x="316409" y="467023"/>
                  <a:pt x="316409" y="475159"/>
                </a:cubicBezTo>
                <a:cubicBezTo>
                  <a:pt x="316409" y="481608"/>
                  <a:pt x="320973" y="489446"/>
                  <a:pt x="333573" y="487164"/>
                </a:cubicBezTo>
                <a:cubicBezTo>
                  <a:pt x="432792" y="454223"/>
                  <a:pt x="500063" y="360065"/>
                  <a:pt x="500063" y="250031"/>
                </a:cubicBezTo>
                <a:cubicBezTo>
                  <a:pt x="500063" y="112415"/>
                  <a:pt x="388441" y="7938"/>
                  <a:pt x="250825" y="7938"/>
                </a:cubicBezTo>
                <a:close/>
                <a:moveTo>
                  <a:pt x="104378" y="350143"/>
                </a:moveTo>
                <a:cubicBezTo>
                  <a:pt x="103088" y="351135"/>
                  <a:pt x="103386" y="353417"/>
                  <a:pt x="105073" y="355302"/>
                </a:cubicBezTo>
                <a:cubicBezTo>
                  <a:pt x="106660" y="356890"/>
                  <a:pt x="108942" y="357584"/>
                  <a:pt x="110232" y="356295"/>
                </a:cubicBezTo>
                <a:cubicBezTo>
                  <a:pt x="111522" y="355302"/>
                  <a:pt x="111224" y="353020"/>
                  <a:pt x="109538" y="351135"/>
                </a:cubicBezTo>
                <a:cubicBezTo>
                  <a:pt x="107950" y="349548"/>
                  <a:pt x="105668" y="348853"/>
                  <a:pt x="104378" y="350143"/>
                </a:cubicBezTo>
                <a:close/>
                <a:moveTo>
                  <a:pt x="93663" y="342106"/>
                </a:moveTo>
                <a:cubicBezTo>
                  <a:pt x="92968" y="343396"/>
                  <a:pt x="93960" y="344984"/>
                  <a:pt x="95945" y="345976"/>
                </a:cubicBezTo>
                <a:cubicBezTo>
                  <a:pt x="97532" y="346968"/>
                  <a:pt x="99516" y="346670"/>
                  <a:pt x="100211" y="345281"/>
                </a:cubicBezTo>
                <a:cubicBezTo>
                  <a:pt x="100905" y="343991"/>
                  <a:pt x="99913" y="342404"/>
                  <a:pt x="97929" y="341412"/>
                </a:cubicBezTo>
                <a:cubicBezTo>
                  <a:pt x="95945" y="340816"/>
                  <a:pt x="94357" y="341114"/>
                  <a:pt x="93663" y="342106"/>
                </a:cubicBezTo>
                <a:close/>
                <a:moveTo>
                  <a:pt x="125809" y="377428"/>
                </a:moveTo>
                <a:cubicBezTo>
                  <a:pt x="124222" y="378718"/>
                  <a:pt x="124817" y="381695"/>
                  <a:pt x="127099" y="383580"/>
                </a:cubicBezTo>
                <a:cubicBezTo>
                  <a:pt x="129381" y="385862"/>
                  <a:pt x="132259" y="386159"/>
                  <a:pt x="133548" y="384572"/>
                </a:cubicBezTo>
                <a:cubicBezTo>
                  <a:pt x="134838" y="383282"/>
                  <a:pt x="134243" y="380305"/>
                  <a:pt x="132259" y="378420"/>
                </a:cubicBezTo>
                <a:cubicBezTo>
                  <a:pt x="130076" y="376138"/>
                  <a:pt x="127099" y="375841"/>
                  <a:pt x="125809" y="377428"/>
                </a:cubicBezTo>
                <a:close/>
                <a:moveTo>
                  <a:pt x="114498" y="362843"/>
                </a:moveTo>
                <a:cubicBezTo>
                  <a:pt x="112911" y="363835"/>
                  <a:pt x="112911" y="366415"/>
                  <a:pt x="114498" y="368697"/>
                </a:cubicBezTo>
                <a:cubicBezTo>
                  <a:pt x="116086" y="370979"/>
                  <a:pt x="118765" y="371971"/>
                  <a:pt x="120055" y="370979"/>
                </a:cubicBezTo>
                <a:cubicBezTo>
                  <a:pt x="121642" y="369689"/>
                  <a:pt x="121642" y="367109"/>
                  <a:pt x="120055" y="364827"/>
                </a:cubicBezTo>
                <a:cubicBezTo>
                  <a:pt x="118666" y="362545"/>
                  <a:pt x="116086" y="361553"/>
                  <a:pt x="114498" y="36284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271000" y="2794000"/>
            <a:ext cx="558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Open-Source on GitHub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71000" y="3302000"/>
            <a:ext cx="558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repository with README documentation. Open for collaboration, contributions, and community feedback under MIT License.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90000" y="5080000"/>
            <a:ext cx="6350000" cy="3302000"/>
          </a:xfrm>
          <a:prstGeom prst="roundRect">
            <a:avLst>
              <a:gd name="adj" fmla="val 12000"/>
            </a:avLst>
          </a:prstGeom>
          <a:solidFill>
            <a:srgbClr val="F7F9F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1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24" name="Text 22"/>
          <p:cNvSpPr/>
          <p:nvPr/>
        </p:nvSpPr>
        <p:spPr>
          <a:xfrm>
            <a:off x="9271000" y="6032500"/>
            <a:ext cx="558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3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.gitignore Optimizations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71000" y="6540500"/>
            <a:ext cx="558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Excludes large dataset folders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Ignores model checkpoint files (.pth)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Omits __pycache__ and temp files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52B7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Keeps repository lean and clone-friendly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 flip="none">
          <a:gsLst>
            <a:gs pos="0">
              <a:srgbClr val="1B4332"/>
            </a:gs>
            <a:gs pos="100000">
              <a:srgbClr val="081C15"/>
            </a:gs>
          </a:gsLst>
          <a:path path="circle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794000"/>
          </a:xfrm>
          <a:prstGeom prst="ellipse">
            <a:avLst/>
          </a:prstGeom>
          <a:solidFill>
            <a:srgbClr val="FFFFFF">
              <a:alpha val="1961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6604000"/>
            <a:ext cx="2540000" cy="2540000"/>
          </a:xfrm>
          <a:prstGeom prst="ellipse">
            <a:avLst/>
          </a:prstGeom>
          <a:solidFill>
            <a:srgbClr val="FFFFFF">
              <a:alpha val="117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70800" y="1778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841712" y="11966"/>
                </a:moveTo>
                <a:cubicBezTo>
                  <a:pt x="853142" y="1072"/>
                  <a:pt x="869752" y="-2857"/>
                  <a:pt x="885111" y="2143"/>
                </a:cubicBezTo>
                <a:cubicBezTo>
                  <a:pt x="902613" y="8037"/>
                  <a:pt x="914400" y="24467"/>
                  <a:pt x="914400" y="42863"/>
                </a:cubicBezTo>
                <a:lnTo>
                  <a:pt x="914400" y="376654"/>
                </a:lnTo>
                <a:cubicBezTo>
                  <a:pt x="914400" y="610969"/>
                  <a:pt x="721340" y="800100"/>
                  <a:pt x="487918" y="800100"/>
                </a:cubicBezTo>
                <a:cubicBezTo>
                  <a:pt x="350401" y="800100"/>
                  <a:pt x="231815" y="711696"/>
                  <a:pt x="188774" y="588109"/>
                </a:cubicBezTo>
                <a:cubicBezTo>
                  <a:pt x="125551" y="643116"/>
                  <a:pt x="85725" y="724019"/>
                  <a:pt x="85725" y="814388"/>
                </a:cubicBezTo>
                <a:cubicBezTo>
                  <a:pt x="85725" y="838140"/>
                  <a:pt x="66615" y="857250"/>
                  <a:pt x="42862" y="857250"/>
                </a:cubicBezTo>
                <a:cubicBezTo>
                  <a:pt x="19110" y="857250"/>
                  <a:pt x="0" y="838140"/>
                  <a:pt x="0" y="814388"/>
                </a:cubicBezTo>
                <a:cubicBezTo>
                  <a:pt x="0" y="680621"/>
                  <a:pt x="68223" y="562749"/>
                  <a:pt x="171629" y="493455"/>
                </a:cubicBezTo>
                <a:cubicBezTo>
                  <a:pt x="234672" y="451306"/>
                  <a:pt x="309860" y="428625"/>
                  <a:pt x="385763" y="428625"/>
                </a:cubicBezTo>
                <a:lnTo>
                  <a:pt x="528638" y="428625"/>
                </a:lnTo>
                <a:cubicBezTo>
                  <a:pt x="552390" y="428625"/>
                  <a:pt x="571500" y="409515"/>
                  <a:pt x="571500" y="385763"/>
                </a:cubicBezTo>
                <a:cubicBezTo>
                  <a:pt x="571500" y="362010"/>
                  <a:pt x="552390" y="342900"/>
                  <a:pt x="528638" y="342900"/>
                </a:cubicBezTo>
                <a:lnTo>
                  <a:pt x="385763" y="342900"/>
                </a:lnTo>
                <a:cubicBezTo>
                  <a:pt x="314861" y="342900"/>
                  <a:pt x="247710" y="358616"/>
                  <a:pt x="187523" y="386655"/>
                </a:cubicBezTo>
                <a:cubicBezTo>
                  <a:pt x="229136" y="261640"/>
                  <a:pt x="346829" y="171450"/>
                  <a:pt x="485775" y="171450"/>
                </a:cubicBezTo>
                <a:cubicBezTo>
                  <a:pt x="604361" y="171450"/>
                  <a:pt x="692587" y="131981"/>
                  <a:pt x="751344" y="92869"/>
                </a:cubicBezTo>
                <a:cubicBezTo>
                  <a:pt x="785634" y="70009"/>
                  <a:pt x="814745" y="42684"/>
                  <a:pt x="841891" y="11966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29210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048000" y="3873500"/>
            <a:ext cx="1016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D8D8D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588000" y="4635500"/>
            <a:ext cx="508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61000" y="501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0779" y="276007"/>
                </a:moveTo>
                <a:cubicBezTo>
                  <a:pt x="120779" y="277396"/>
                  <a:pt x="119182" y="278507"/>
                  <a:pt x="117167" y="278507"/>
                </a:cubicBezTo>
                <a:cubicBezTo>
                  <a:pt x="114875" y="278715"/>
                  <a:pt x="113278" y="277604"/>
                  <a:pt x="113278" y="276007"/>
                </a:cubicBezTo>
                <a:cubicBezTo>
                  <a:pt x="113278" y="274618"/>
                  <a:pt x="114875" y="273506"/>
                  <a:pt x="116890" y="273506"/>
                </a:cubicBezTo>
                <a:cubicBezTo>
                  <a:pt x="118973" y="273298"/>
                  <a:pt x="120779" y="274409"/>
                  <a:pt x="120779" y="276007"/>
                </a:cubicBezTo>
                <a:close/>
                <a:moveTo>
                  <a:pt x="99179" y="272881"/>
                </a:moveTo>
                <a:cubicBezTo>
                  <a:pt x="98693" y="274270"/>
                  <a:pt x="100082" y="275868"/>
                  <a:pt x="102166" y="276285"/>
                </a:cubicBezTo>
                <a:cubicBezTo>
                  <a:pt x="103971" y="276979"/>
                  <a:pt x="106055" y="276285"/>
                  <a:pt x="106472" y="274895"/>
                </a:cubicBezTo>
                <a:cubicBezTo>
                  <a:pt x="106888" y="273506"/>
                  <a:pt x="105569" y="271909"/>
                  <a:pt x="103485" y="271284"/>
                </a:cubicBezTo>
                <a:cubicBezTo>
                  <a:pt x="101679" y="270798"/>
                  <a:pt x="99665" y="271492"/>
                  <a:pt x="99179" y="272881"/>
                </a:cubicBezTo>
                <a:close/>
                <a:moveTo>
                  <a:pt x="129877" y="271701"/>
                </a:moveTo>
                <a:cubicBezTo>
                  <a:pt x="127863" y="272187"/>
                  <a:pt x="126474" y="273506"/>
                  <a:pt x="126683" y="275104"/>
                </a:cubicBezTo>
                <a:cubicBezTo>
                  <a:pt x="126891" y="276493"/>
                  <a:pt x="128697" y="277396"/>
                  <a:pt x="130780" y="276910"/>
                </a:cubicBezTo>
                <a:cubicBezTo>
                  <a:pt x="132794" y="276423"/>
                  <a:pt x="134183" y="275104"/>
                  <a:pt x="133975" y="273715"/>
                </a:cubicBezTo>
                <a:cubicBezTo>
                  <a:pt x="133767" y="272395"/>
                  <a:pt x="131891" y="271492"/>
                  <a:pt x="129877" y="271701"/>
                </a:cubicBezTo>
                <a:close/>
                <a:moveTo>
                  <a:pt x="175577" y="5556"/>
                </a:moveTo>
                <a:cubicBezTo>
                  <a:pt x="79246" y="5556"/>
                  <a:pt x="5556" y="78690"/>
                  <a:pt x="5556" y="175022"/>
                </a:cubicBezTo>
                <a:cubicBezTo>
                  <a:pt x="5556" y="252045"/>
                  <a:pt x="54035" y="317956"/>
                  <a:pt x="123279" y="341154"/>
                </a:cubicBezTo>
                <a:cubicBezTo>
                  <a:pt x="132169" y="342751"/>
                  <a:pt x="135295" y="337264"/>
                  <a:pt x="135295" y="332750"/>
                </a:cubicBezTo>
                <a:cubicBezTo>
                  <a:pt x="135295" y="328444"/>
                  <a:pt x="135086" y="304691"/>
                  <a:pt x="135086" y="290106"/>
                </a:cubicBezTo>
                <a:cubicBezTo>
                  <a:pt x="135086" y="290106"/>
                  <a:pt x="86469" y="300524"/>
                  <a:pt x="76260" y="269409"/>
                </a:cubicBezTo>
                <a:cubicBezTo>
                  <a:pt x="76260" y="269409"/>
                  <a:pt x="68342" y="249198"/>
                  <a:pt x="56952" y="243989"/>
                </a:cubicBezTo>
                <a:cubicBezTo>
                  <a:pt x="56952" y="243989"/>
                  <a:pt x="41047" y="233085"/>
                  <a:pt x="58063" y="233293"/>
                </a:cubicBezTo>
                <a:cubicBezTo>
                  <a:pt x="58063" y="233293"/>
                  <a:pt x="75357" y="234682"/>
                  <a:pt x="84872" y="251212"/>
                </a:cubicBezTo>
                <a:cubicBezTo>
                  <a:pt x="100082" y="278021"/>
                  <a:pt x="125571" y="270312"/>
                  <a:pt x="135503" y="265728"/>
                </a:cubicBezTo>
                <a:cubicBezTo>
                  <a:pt x="137100" y="254615"/>
                  <a:pt x="141615" y="246906"/>
                  <a:pt x="146616" y="242322"/>
                </a:cubicBezTo>
                <a:cubicBezTo>
                  <a:pt x="107791" y="238016"/>
                  <a:pt x="68620" y="232390"/>
                  <a:pt x="68620" y="165576"/>
                </a:cubicBezTo>
                <a:cubicBezTo>
                  <a:pt x="68620" y="146477"/>
                  <a:pt x="73898" y="136892"/>
                  <a:pt x="85011" y="124668"/>
                </a:cubicBezTo>
                <a:cubicBezTo>
                  <a:pt x="83205" y="120154"/>
                  <a:pt x="77301" y="101540"/>
                  <a:pt x="86816" y="77510"/>
                </a:cubicBezTo>
                <a:cubicBezTo>
                  <a:pt x="101332" y="72995"/>
                  <a:pt x="134739" y="96262"/>
                  <a:pt x="134739" y="96262"/>
                </a:cubicBezTo>
                <a:cubicBezTo>
                  <a:pt x="148630" y="92373"/>
                  <a:pt x="163562" y="90359"/>
                  <a:pt x="178356" y="90359"/>
                </a:cubicBezTo>
                <a:cubicBezTo>
                  <a:pt x="193149" y="90359"/>
                  <a:pt x="208082" y="92373"/>
                  <a:pt x="221972" y="96262"/>
                </a:cubicBezTo>
                <a:cubicBezTo>
                  <a:pt x="221972" y="96262"/>
                  <a:pt x="255379" y="72926"/>
                  <a:pt x="269895" y="77510"/>
                </a:cubicBezTo>
                <a:cubicBezTo>
                  <a:pt x="279410" y="101610"/>
                  <a:pt x="273506" y="120154"/>
                  <a:pt x="271701" y="124668"/>
                </a:cubicBezTo>
                <a:cubicBezTo>
                  <a:pt x="282813" y="136962"/>
                  <a:pt x="289620" y="146546"/>
                  <a:pt x="289620" y="165576"/>
                </a:cubicBezTo>
                <a:cubicBezTo>
                  <a:pt x="289620" y="232599"/>
                  <a:pt x="248712" y="237946"/>
                  <a:pt x="209887" y="242322"/>
                </a:cubicBezTo>
                <a:cubicBezTo>
                  <a:pt x="216277" y="247809"/>
                  <a:pt x="221694" y="258227"/>
                  <a:pt x="221694" y="274548"/>
                </a:cubicBezTo>
                <a:cubicBezTo>
                  <a:pt x="221694" y="297954"/>
                  <a:pt x="221486" y="326916"/>
                  <a:pt x="221486" y="332611"/>
                </a:cubicBezTo>
                <a:cubicBezTo>
                  <a:pt x="221486" y="337125"/>
                  <a:pt x="224681" y="342612"/>
                  <a:pt x="233501" y="341015"/>
                </a:cubicBezTo>
                <a:cubicBezTo>
                  <a:pt x="302955" y="317956"/>
                  <a:pt x="350044" y="252045"/>
                  <a:pt x="350044" y="175022"/>
                </a:cubicBezTo>
                <a:cubicBezTo>
                  <a:pt x="350044" y="78690"/>
                  <a:pt x="271909" y="5556"/>
                  <a:pt x="175578" y="5556"/>
                </a:cubicBezTo>
                <a:close/>
                <a:moveTo>
                  <a:pt x="73065" y="245100"/>
                </a:moveTo>
                <a:cubicBezTo>
                  <a:pt x="72162" y="245795"/>
                  <a:pt x="72370" y="247392"/>
                  <a:pt x="73551" y="248712"/>
                </a:cubicBezTo>
                <a:cubicBezTo>
                  <a:pt x="74662" y="249823"/>
                  <a:pt x="76260" y="250309"/>
                  <a:pt x="77162" y="249406"/>
                </a:cubicBezTo>
                <a:cubicBezTo>
                  <a:pt x="78065" y="248712"/>
                  <a:pt x="77857" y="247114"/>
                  <a:pt x="76676" y="245795"/>
                </a:cubicBezTo>
                <a:cubicBezTo>
                  <a:pt x="75565" y="244683"/>
                  <a:pt x="73968" y="244197"/>
                  <a:pt x="73065" y="245100"/>
                </a:cubicBezTo>
                <a:close/>
                <a:moveTo>
                  <a:pt x="65564" y="239474"/>
                </a:moveTo>
                <a:cubicBezTo>
                  <a:pt x="65078" y="240377"/>
                  <a:pt x="65772" y="241489"/>
                  <a:pt x="67161" y="242183"/>
                </a:cubicBezTo>
                <a:cubicBezTo>
                  <a:pt x="68272" y="242878"/>
                  <a:pt x="69661" y="242669"/>
                  <a:pt x="70148" y="241697"/>
                </a:cubicBezTo>
                <a:cubicBezTo>
                  <a:pt x="70634" y="240794"/>
                  <a:pt x="69939" y="239683"/>
                  <a:pt x="68550" y="238988"/>
                </a:cubicBezTo>
                <a:cubicBezTo>
                  <a:pt x="67161" y="238571"/>
                  <a:pt x="66050" y="238780"/>
                  <a:pt x="65564" y="239474"/>
                </a:cubicBezTo>
                <a:close/>
                <a:moveTo>
                  <a:pt x="88067" y="264200"/>
                </a:moveTo>
                <a:cubicBezTo>
                  <a:pt x="86955" y="265103"/>
                  <a:pt x="87372" y="267186"/>
                  <a:pt x="88969" y="268506"/>
                </a:cubicBezTo>
                <a:cubicBezTo>
                  <a:pt x="90567" y="270103"/>
                  <a:pt x="92581" y="270312"/>
                  <a:pt x="93484" y="269200"/>
                </a:cubicBezTo>
                <a:cubicBezTo>
                  <a:pt x="94387" y="268297"/>
                  <a:pt x="93970" y="266214"/>
                  <a:pt x="92581" y="264894"/>
                </a:cubicBezTo>
                <a:cubicBezTo>
                  <a:pt x="91053" y="263297"/>
                  <a:pt x="88969" y="263088"/>
                  <a:pt x="88067" y="264200"/>
                </a:cubicBezTo>
                <a:close/>
                <a:moveTo>
                  <a:pt x="80149" y="253990"/>
                </a:moveTo>
                <a:cubicBezTo>
                  <a:pt x="79038" y="254685"/>
                  <a:pt x="79038" y="256490"/>
                  <a:pt x="80149" y="258088"/>
                </a:cubicBezTo>
                <a:cubicBezTo>
                  <a:pt x="81260" y="259685"/>
                  <a:pt x="83135" y="260380"/>
                  <a:pt x="84038" y="259685"/>
                </a:cubicBezTo>
                <a:cubicBezTo>
                  <a:pt x="85150" y="258782"/>
                  <a:pt x="85150" y="256977"/>
                  <a:pt x="84038" y="255379"/>
                </a:cubicBezTo>
                <a:cubicBezTo>
                  <a:pt x="83066" y="253782"/>
                  <a:pt x="81260" y="253087"/>
                  <a:pt x="80149" y="253990"/>
                </a:cubicBezTo>
                <a:close/>
              </a:path>
            </a:pathLst>
          </a:cu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5969000" y="4953000"/>
            <a:ext cx="635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u="sng" dirty="0">
                <a:solidFill>
                  <a:srgbClr val="D8D8D8"/>
                </a:solidFill>
                <a:uFill>
                  <a:solidFill>
                    <a:srgbClr val="D8D8D8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github.com/maddy-bit/Crop-Disease-Predictor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48000" y="571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with PyTorch · Streamlit · ResNet18 Transfer Learning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83000" y="635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7A8B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for collaboration, contributions, and feedback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21500" y="711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6497" y="-19645"/>
                </a:moveTo>
                <a:cubicBezTo>
                  <a:pt x="144406" y="-25450"/>
                  <a:pt x="156057" y="-25226"/>
                  <a:pt x="163626" y="-18976"/>
                </a:cubicBezTo>
                <a:cubicBezTo>
                  <a:pt x="174086" y="-10344"/>
                  <a:pt x="183441" y="-819"/>
                  <a:pt x="192456" y="8855"/>
                </a:cubicBezTo>
                <a:cubicBezTo>
                  <a:pt x="203937" y="21134"/>
                  <a:pt x="217714" y="37356"/>
                  <a:pt x="230981" y="56629"/>
                </a:cubicBezTo>
                <a:cubicBezTo>
                  <a:pt x="235404" y="51569"/>
                  <a:pt x="239486" y="47104"/>
                  <a:pt x="243058" y="43309"/>
                </a:cubicBezTo>
                <a:cubicBezTo>
                  <a:pt x="243993" y="42342"/>
                  <a:pt x="244929" y="41300"/>
                  <a:pt x="245864" y="40258"/>
                </a:cubicBezTo>
                <a:cubicBezTo>
                  <a:pt x="252583" y="32965"/>
                  <a:pt x="260917" y="23812"/>
                  <a:pt x="272058" y="23812"/>
                </a:cubicBezTo>
                <a:cubicBezTo>
                  <a:pt x="283454" y="23812"/>
                  <a:pt x="291448" y="32668"/>
                  <a:pt x="298252" y="40258"/>
                </a:cubicBezTo>
                <a:cubicBezTo>
                  <a:pt x="299357" y="41523"/>
                  <a:pt x="300463" y="42714"/>
                  <a:pt x="301568" y="43830"/>
                </a:cubicBezTo>
                <a:cubicBezTo>
                  <a:pt x="310328" y="53057"/>
                  <a:pt x="321979" y="66377"/>
                  <a:pt x="333630" y="82823"/>
                </a:cubicBezTo>
                <a:cubicBezTo>
                  <a:pt x="356762" y="115491"/>
                  <a:pt x="380915" y="161999"/>
                  <a:pt x="380915" y="214238"/>
                </a:cubicBezTo>
                <a:cubicBezTo>
                  <a:pt x="380915" y="306288"/>
                  <a:pt x="295615" y="380926"/>
                  <a:pt x="190415" y="380926"/>
                </a:cubicBezTo>
                <a:cubicBezTo>
                  <a:pt x="85215" y="380926"/>
                  <a:pt x="0" y="306363"/>
                  <a:pt x="0" y="214313"/>
                </a:cubicBezTo>
                <a:cubicBezTo>
                  <a:pt x="0" y="146521"/>
                  <a:pt x="34953" y="87809"/>
                  <a:pt x="68461" y="46881"/>
                </a:cubicBezTo>
                <a:cubicBezTo>
                  <a:pt x="85385" y="26268"/>
                  <a:pt x="102224" y="9748"/>
                  <a:pt x="114895" y="-1563"/>
                </a:cubicBezTo>
                <a:cubicBezTo>
                  <a:pt x="121869" y="-7813"/>
                  <a:pt x="128928" y="-13990"/>
                  <a:pt x="136582" y="-19571"/>
                </a:cubicBezTo>
                <a:close/>
                <a:moveTo>
                  <a:pt x="191946" y="309563"/>
                </a:moveTo>
                <a:cubicBezTo>
                  <a:pt x="213462" y="309563"/>
                  <a:pt x="232512" y="304354"/>
                  <a:pt x="250456" y="293936"/>
                </a:cubicBezTo>
                <a:cubicBezTo>
                  <a:pt x="286260" y="272058"/>
                  <a:pt x="295870" y="228302"/>
                  <a:pt x="274354" y="193923"/>
                </a:cubicBezTo>
                <a:cubicBezTo>
                  <a:pt x="270527" y="187226"/>
                  <a:pt x="260747" y="186779"/>
                  <a:pt x="255219" y="192435"/>
                </a:cubicBezTo>
                <a:lnTo>
                  <a:pt x="233788" y="214238"/>
                </a:lnTo>
                <a:cubicBezTo>
                  <a:pt x="228175" y="219894"/>
                  <a:pt x="218054" y="219745"/>
                  <a:pt x="212782" y="213866"/>
                </a:cubicBezTo>
                <a:cubicBezTo>
                  <a:pt x="198069" y="197421"/>
                  <a:pt x="171025" y="167432"/>
                  <a:pt x="157248" y="152102"/>
                </a:cubicBezTo>
                <a:cubicBezTo>
                  <a:pt x="152655" y="146968"/>
                  <a:pt x="144321" y="146149"/>
                  <a:pt x="138963" y="150688"/>
                </a:cubicBezTo>
                <a:cubicBezTo>
                  <a:pt x="123400" y="163934"/>
                  <a:pt x="95165" y="192956"/>
                  <a:pt x="95165" y="228302"/>
                </a:cubicBezTo>
                <a:cubicBezTo>
                  <a:pt x="95165" y="279350"/>
                  <a:pt x="138198" y="309563"/>
                  <a:pt x="191861" y="309563"/>
                </a:cubicBezTo>
                <a:close/>
              </a:path>
            </a:pathLst>
          </a:custGeom>
          <a:solidFill>
            <a:srgbClr val="D8D8D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3500" y="711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654" y="893"/>
                </a:moveTo>
                <a:cubicBezTo>
                  <a:pt x="227409" y="-2753"/>
                  <a:pt x="215702" y="4614"/>
                  <a:pt x="212460" y="17264"/>
                </a:cubicBezTo>
                <a:lnTo>
                  <a:pt x="127794" y="350639"/>
                </a:lnTo>
                <a:cubicBezTo>
                  <a:pt x="124553" y="363289"/>
                  <a:pt x="131101" y="376461"/>
                  <a:pt x="142346" y="380107"/>
                </a:cubicBezTo>
                <a:cubicBezTo>
                  <a:pt x="153591" y="383753"/>
                  <a:pt x="165298" y="376386"/>
                  <a:pt x="168540" y="363736"/>
                </a:cubicBezTo>
                <a:lnTo>
                  <a:pt x="253206" y="30361"/>
                </a:lnTo>
                <a:cubicBezTo>
                  <a:pt x="256447" y="17711"/>
                  <a:pt x="249899" y="4539"/>
                  <a:pt x="238654" y="893"/>
                </a:cubicBezTo>
                <a:close/>
                <a:moveTo>
                  <a:pt x="281384" y="102171"/>
                </a:moveTo>
                <a:cubicBezTo>
                  <a:pt x="273116" y="111472"/>
                  <a:pt x="273116" y="126578"/>
                  <a:pt x="281384" y="135880"/>
                </a:cubicBezTo>
                <a:lnTo>
                  <a:pt x="329935" y="190500"/>
                </a:lnTo>
                <a:lnTo>
                  <a:pt x="281384" y="245120"/>
                </a:lnTo>
                <a:cubicBezTo>
                  <a:pt x="273116" y="254422"/>
                  <a:pt x="273116" y="269528"/>
                  <a:pt x="281384" y="278829"/>
                </a:cubicBezTo>
                <a:cubicBezTo>
                  <a:pt x="289653" y="288131"/>
                  <a:pt x="303080" y="288131"/>
                  <a:pt x="311348" y="278829"/>
                </a:cubicBezTo>
                <a:lnTo>
                  <a:pt x="374848" y="207392"/>
                </a:lnTo>
                <a:cubicBezTo>
                  <a:pt x="383117" y="198090"/>
                  <a:pt x="383117" y="182984"/>
                  <a:pt x="374848" y="173682"/>
                </a:cubicBezTo>
                <a:lnTo>
                  <a:pt x="311348" y="102245"/>
                </a:lnTo>
                <a:cubicBezTo>
                  <a:pt x="303080" y="92943"/>
                  <a:pt x="289653" y="92943"/>
                  <a:pt x="281384" y="102245"/>
                </a:cubicBezTo>
                <a:close/>
                <a:moveTo>
                  <a:pt x="99682" y="102171"/>
                </a:moveTo>
                <a:cubicBezTo>
                  <a:pt x="91414" y="92869"/>
                  <a:pt x="77986" y="92869"/>
                  <a:pt x="69718" y="102171"/>
                </a:cubicBezTo>
                <a:lnTo>
                  <a:pt x="6218" y="173608"/>
                </a:lnTo>
                <a:cubicBezTo>
                  <a:pt x="-2051" y="182910"/>
                  <a:pt x="-2051" y="198016"/>
                  <a:pt x="6218" y="207318"/>
                </a:cubicBezTo>
                <a:lnTo>
                  <a:pt x="69718" y="278755"/>
                </a:lnTo>
                <a:cubicBezTo>
                  <a:pt x="77986" y="288057"/>
                  <a:pt x="91414" y="288057"/>
                  <a:pt x="99682" y="278755"/>
                </a:cubicBezTo>
                <a:cubicBezTo>
                  <a:pt x="107950" y="269453"/>
                  <a:pt x="107950" y="254347"/>
                  <a:pt x="99682" y="245046"/>
                </a:cubicBezTo>
                <a:lnTo>
                  <a:pt x="51131" y="190500"/>
                </a:lnTo>
                <a:lnTo>
                  <a:pt x="99616" y="135880"/>
                </a:lnTo>
                <a:cubicBezTo>
                  <a:pt x="107884" y="126578"/>
                  <a:pt x="107884" y="111472"/>
                  <a:pt x="99616" y="102171"/>
                </a:cubicBezTo>
                <a:close/>
              </a:path>
            </a:pathLst>
          </a:custGeom>
          <a:solidFill>
            <a:srgbClr val="D8D8D8"/>
          </a:solidFill>
          <a:ln/>
        </p:spPr>
      </p:sp>
      <p:sp>
        <p:nvSpPr>
          <p:cNvPr id="14" name="Shape 12"/>
          <p:cNvSpPr/>
          <p:nvPr/>
        </p:nvSpPr>
        <p:spPr>
          <a:xfrm>
            <a:off x="8445500" y="7112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9338" y="64815"/>
                </a:moveTo>
                <a:lnTo>
                  <a:pt x="190500" y="80218"/>
                </a:lnTo>
                <a:lnTo>
                  <a:pt x="201662" y="64815"/>
                </a:lnTo>
                <a:cubicBezTo>
                  <a:pt x="220266" y="39067"/>
                  <a:pt x="250180" y="23812"/>
                  <a:pt x="281955" y="23812"/>
                </a:cubicBezTo>
                <a:cubicBezTo>
                  <a:pt x="336649" y="23812"/>
                  <a:pt x="381000" y="68163"/>
                  <a:pt x="381000" y="122858"/>
                </a:cubicBezTo>
                <a:lnTo>
                  <a:pt x="381000" y="124792"/>
                </a:lnTo>
                <a:cubicBezTo>
                  <a:pt x="381000" y="208285"/>
                  <a:pt x="276895" y="305246"/>
                  <a:pt x="222572" y="346695"/>
                </a:cubicBezTo>
                <a:cubicBezTo>
                  <a:pt x="213345" y="353690"/>
                  <a:pt x="202034" y="357188"/>
                  <a:pt x="190500" y="357188"/>
                </a:cubicBezTo>
                <a:cubicBezTo>
                  <a:pt x="178966" y="357188"/>
                  <a:pt x="167580" y="353764"/>
                  <a:pt x="158428" y="346695"/>
                </a:cubicBezTo>
                <a:cubicBezTo>
                  <a:pt x="104105" y="305246"/>
                  <a:pt x="0" y="208285"/>
                  <a:pt x="0" y="124792"/>
                </a:cubicBezTo>
                <a:lnTo>
                  <a:pt x="0" y="122858"/>
                </a:lnTo>
                <a:cubicBezTo>
                  <a:pt x="0" y="68163"/>
                  <a:pt x="44351" y="23812"/>
                  <a:pt x="99045" y="23812"/>
                </a:cubicBezTo>
                <a:cubicBezTo>
                  <a:pt x="130820" y="23812"/>
                  <a:pt x="160734" y="39067"/>
                  <a:pt x="179338" y="64815"/>
                </a:cubicBezTo>
                <a:close/>
              </a:path>
            </a:pathLst>
          </a:custGeom>
          <a:solidFill>
            <a:srgbClr val="D8D8D8"/>
          </a:solidFill>
          <a:ln/>
        </p:spPr>
      </p:sp>
      <p:sp>
        <p:nvSpPr>
          <p:cNvPr id="15" name="Text 13"/>
          <p:cNvSpPr/>
          <p:nvPr/>
        </p:nvSpPr>
        <p:spPr>
          <a:xfrm>
            <a:off x="4318000" y="81280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Developed by Anmol Trivedi. AI Crop Disease Predictor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Crop Disease Predictor</dc:title>
  <dc:subject>AI Crop Disease Predictor</dc:subject>
  <dc:creator>Kimi</dc:creator>
  <cp:lastModifiedBy>Kimi</cp:lastModifiedBy>
  <cp:revision>1</cp:revision>
  <dcterms:created xsi:type="dcterms:W3CDTF">2026-07-12T16:43:49Z</dcterms:created>
  <dcterms:modified xsi:type="dcterms:W3CDTF">2026-07-12T16:43:49Z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 Crop Disease Predictor","ContentProducer":"001191110108MACG2KBH8F10000","ProduceID":"19f57202-d822-8404-8000-00003a18defa","ReservedCode1":"","ContentPropagator":"001191110108MACG2KBH8F20000","PropagateID":"19f571cb-4f82-865e-8000-09964699fe4b","ReservedCode2":""}</vt:lpwstr>
  </property>
</Properties>
</file>